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00701-4350-46B0-B667-6B406B94FF7B}" v="3" dt="2022-03-01T23:50:13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416" autoAdjust="0"/>
  </p:normalViewPr>
  <p:slideViewPr>
    <p:cSldViewPr snapToGrid="0">
      <p:cViewPr varScale="1">
        <p:scale>
          <a:sx n="90" d="100"/>
          <a:sy n="90" d="100"/>
        </p:scale>
        <p:origin x="13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4A48-ED60-4C3D-8040-EA420D137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50468-0315-4B9D-B09C-8C8C8EBD6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C4A60-6695-4CB3-AF2E-ACFA3C0B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D2078-2F8D-45FB-9C14-17036DA5D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D9676-FA59-4F47-9033-2CFC7976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2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4559-4EA9-4030-8CD7-225515C3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446E6-DF6C-44D2-BA71-5D6445655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5ECAD-0D49-425E-99BE-4E9A2797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268D-3BF4-472B-B1D5-51848967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F4C8E-AFA1-48CB-9BE5-583A3766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7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C60D-06AE-4839-A5F6-DB50DF87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C870F-1989-4744-AA64-C97EBC308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CF60B-312D-4E68-B904-78A68C9A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5CA4F-B8D7-4A59-A5BA-74DF90CC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AD61-51E4-4D1D-8E14-1EB20C0E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0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1454-95B8-455D-BFC1-6C6DA360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BC0B-D342-4647-B5BA-5B6ADF294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9BC10-2FBB-4372-AE80-21EC4AB47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E6231-D355-4CB0-AB68-1D21D4EB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1BF01-A233-43E9-8949-BAADCAF9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A8DA2-49A7-4CD4-AD2A-B4AE89F0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7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6AAD-2645-4527-94B3-3A3BECB9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31552-937E-4EAB-883E-C29FBC415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455D9-4697-44D3-AB55-9CADBE716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8DC7D-BF9A-4F54-AB58-1C49FFA17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3AE0C-DB47-4E16-828A-3429714FA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C3C45-525E-4801-90AF-776B7EFC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B6704D-F5BC-4598-B7E7-5F53967A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9A6A6-BB3C-4DD0-A205-F8593CED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4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09AA-EE0C-4FE6-8E30-99E91A13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A744A-AA0E-40C1-82B4-1865879A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794A4-DA55-49C9-9EE1-51AFA798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A595F-05DA-41C2-AFB0-CC51AFDB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7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F4ACF-3F96-4D20-91DE-5A7A89B4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B232B-2221-443B-9621-C2FFF4160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70A4F-5257-4439-983C-D802F719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9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D602-AEC1-494B-9EC8-423C9605B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75CB-286B-4E0D-946F-B2152E792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FE692-594E-4FE0-A040-69DCF74AA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66829-7538-463B-99D9-8920CBDF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5AFDF-77FC-4354-AF3B-008607F9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7315B-5282-41D1-99A3-2ADE83DA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2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7A91-0A20-466E-9CA8-86B63BE8A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C2C4C-22CA-4398-A23B-4F068FB5A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74D67-2A27-42C6-815E-BE5AD10D3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B23AA-5E29-4400-B52D-822F13ED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68ADC-B329-411C-AA83-9EEADAE8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8A6D9-A5FD-46E3-8F58-CDC4CC4B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2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9857-0725-4AFD-ADA1-93DE6885A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42F07-D500-4235-A3BD-4E9FA3C92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B7CF7-F61A-47E7-B601-419FF069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8C1B3-4CDE-4267-AF19-9C2FCF86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8641-A10F-457F-B6A9-3F574B2B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A314E-DAF4-459C-AF7B-C7347C763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BE33E-4004-41A3-B3E6-14272F53B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A99DB-D8D6-44B2-B140-B5C0DD69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BF21E-4345-40CE-88C3-7C77ECC0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20F6-FD42-49EE-AE17-171924F4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5F7E3-61B5-4449-80CF-04DA4D37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C45A-DECF-4B86-87F6-C12B501A4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712EE-4BB3-49D3-9FAF-733EA6255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2AFC1-4F45-459D-BC95-0F8F5E3A429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FC8A3-CA43-47DE-88A0-18EE8FB2D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CC4C2-DBD2-41A0-8542-0ED48583D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5D697-CC64-4CAF-A466-D1105DD36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8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D3DB-B193-4E72-861B-FE835A2E1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Titanic Passenger Survival: Visual Analysis and Reporting</a:t>
            </a:r>
            <a:br>
              <a:rPr lang="en-US" sz="3600" dirty="0"/>
            </a:br>
            <a:r>
              <a:rPr lang="en-US" sz="3200" dirty="0"/>
              <a:t>Micro-Project 2</a:t>
            </a:r>
            <a:br>
              <a:rPr lang="en-US" sz="2000" dirty="0"/>
            </a:br>
            <a:r>
              <a:rPr lang="en-US" sz="2000" dirty="0"/>
              <a:t>https://github.com/OrangeJoe0421/ANA-500-MP2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5E315-C208-479B-A6B8-0DCBEF2B5F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Travis James</a:t>
            </a:r>
          </a:p>
          <a:p>
            <a:r>
              <a:rPr lang="en-US" dirty="0"/>
              <a:t>September 28, 2026</a:t>
            </a:r>
          </a:p>
        </p:txBody>
      </p:sp>
    </p:spTree>
    <p:extLst>
      <p:ext uri="{BB962C8B-B14F-4D97-AF65-F5344CB8AC3E}">
        <p14:creationId xmlns:p14="http://schemas.microsoft.com/office/powerpoint/2010/main" val="365125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02AB-CEDA-4E89-A1DC-6BABC9C3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D07EA-4B74-4BFA-A23D-5147B6A28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</a:rPr>
              <a:t>Survival on the Titanic was not random. This project describes which passenger characteristics were associated with who lived and who died.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Characteristics considered: </a:t>
            </a:r>
            <a:r>
              <a:rPr sz="2400" b="0">
                <a:solidFill>
                  <a:srgbClr val="000000"/>
                </a:solidFill>
                <a:latin typeface="Times New Roman"/>
              </a:rPr>
              <a:t>sex, ticket class, age, family size, fare, and port of embarkation.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Data: </a:t>
            </a:r>
            <a:r>
              <a:rPr sz="2400" b="0">
                <a:solidFill>
                  <a:srgbClr val="000000"/>
                </a:solidFill>
                <a:latin typeface="Times New Roman"/>
              </a:rPr>
              <a:t>the cleaned passenger file produced in Micro-Project 1 (titanic_clean.csv).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Scope of Micro-Project 2: </a:t>
            </a:r>
            <a:r>
              <a:rPr sz="2400" b="0">
                <a:solidFill>
                  <a:srgbClr val="000000"/>
                </a:solidFill>
                <a:latin typeface="Times New Roman"/>
              </a:rPr>
              <a:t>use Matplotlib and Seaborn to analyze the data visually and report the results (Steps 1 through 4 of the data science process).</a:t>
            </a:r>
          </a:p>
        </p:txBody>
      </p:sp>
    </p:spTree>
    <p:extLst>
      <p:ext uri="{BB962C8B-B14F-4D97-AF65-F5344CB8AC3E}">
        <p14:creationId xmlns:p14="http://schemas.microsoft.com/office/powerpoint/2010/main" val="188067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C91F-7913-4D5C-A911-ADD4837D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A42CE-FCD3-41B9-A629-5F3C6031F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Hypothesis: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Women and passengers in higher ticket classes survived at higher rates than men and passengers in lower ticket classes.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H1: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Women survived at a higher rate than men.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H2: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Survival rate falls from first to third class.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H3: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The sex gap holds inside every class, so both factors matter.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Supporting variables: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age, family size, fare, and port, which may explain or complicate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330695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7252-6823-44F9-B464-D7A15D12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E391-6366-4E20-A14E-0ECFAEA8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Source: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titanic_clean.csv, the output of Micro-Project 1 (1,309 passengers, 20 columns).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Also loaded: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the raw titanic.csv, to revisit one cleaning decision with the original records.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Retrieved: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read_csv, then the category and nullable integer types were restored, since CSV files do not store data types.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Checked: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assertions confirm the file matches Micro-Project 1 (same row count, unique IDs, only Survived has blanks).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Libraries: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NumPy, Pandas, Matplotlib, Seaborn, and SciPy.</a:t>
            </a:r>
          </a:p>
        </p:txBody>
      </p:sp>
    </p:spTree>
    <p:extLst>
      <p:ext uri="{BB962C8B-B14F-4D97-AF65-F5344CB8AC3E}">
        <p14:creationId xmlns:p14="http://schemas.microsoft.com/office/powerpoint/2010/main" val="42702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Prepare: Revisiting the Missing 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740" indent="-20574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Feedback: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the two passengers with no port share ticket 113572 and cabin B28. Can that support a better fill than the overall mode?</a:t>
            </a:r>
          </a:p>
          <a:p>
            <a:pPr marL="205740" indent="-20574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Finding: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no one else has that ticket or cabin, so there is no companion whose port can be copied.</a:t>
            </a:r>
          </a:p>
          <a:p>
            <a:pPr marL="205740" indent="-20574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Decision: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assign Southampton (S) from the ticket series, which is tied to where the ticket was bought. Same value as Micro-Project 1, now backed by passenger-specific evidence and flagged in EmbarkedWasMissing.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89320" y="1737360"/>
          <a:ext cx="56692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Evidence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Points to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Strength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Shared ticket or cabin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None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No other passengers match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Other 113xxx tickets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Southampton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54 of 64 (84%)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Fare per person ($40)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Cherbourg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Weak: C and S fares overlap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Overall mode (Micro-Project 1)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Southampton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Not specific to them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Prepare: Building the Analysis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486400" cy="1867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1" dirty="0">
                <a:solidFill>
                  <a:srgbClr val="000000"/>
                </a:solidFill>
                <a:latin typeface="Times New Roman"/>
              </a:rPr>
              <a:t>Analysis set: 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the 891 passengers with a known outcome. The 418 holdout rows stay aside.</a:t>
            </a:r>
          </a:p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1" dirty="0">
                <a:solidFill>
                  <a:srgbClr val="000000"/>
                </a:solidFill>
                <a:latin typeface="Times New Roman"/>
              </a:rPr>
              <a:t>Baseline: 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549 died (61.6%) and 342 survived (38.4%). Later charts compare each group to 38.4%.</a:t>
            </a:r>
          </a:p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1" dirty="0">
                <a:solidFill>
                  <a:srgbClr val="000000"/>
                </a:solidFill>
                <a:latin typeface="Times New Roman"/>
              </a:rPr>
              <a:t>Age caution: 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177 ages were imputed in Micro-Project 1, so age distributions use only the 714 recorded ages.</a:t>
            </a:r>
          </a:p>
        </p:txBody>
      </p:sp>
      <p:pic>
        <p:nvPicPr>
          <p:cNvPr id="4" name="Picture 3" descr="01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303520" cy="3469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Analyze: Techniques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600200"/>
          <a:ext cx="106070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Technique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Question it answers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Library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Grouped survival rates (bar charts)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Which groups survived above or below the 38.4% baseline?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Matplotlib, Seaborn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Two-way comparison (heatmap)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Does the sex gap hold inside every class?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Seaborn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Distributions (histograms, box plots)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How do age and fare differ between survivors and victims?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Seaborn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100% stacked bars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Is a variable (port) really a stand-in for class?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Matplotlib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Chi-square test and Cramer's V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Is each gap larger than chance, and how strong is it?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SciPy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Correlation matrix (heatmap)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Which features move with survival and with each other?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Pandas, Seaborn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Analyze: Survival by Sex and Class</a:t>
            </a:r>
          </a:p>
        </p:txBody>
      </p:sp>
      <p:pic>
        <p:nvPicPr>
          <p:cNvPr id="3" name="Picture 2" descr="02_sex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223760" cy="2940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0" y="16002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H1: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74.2% of women survived compared with 18.9% of men.</a:t>
            </a:r>
          </a:p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Women were 35% of passengers but 68% of survivors (233 of 342).</a:t>
            </a:r>
          </a:p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H2: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survival falls steadily with class: 63.0% in first, 47.3% in second, 24.2% in third.</a:t>
            </a:r>
          </a:p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Third class was the largest group (491) and the only class below the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Analyze: Sex and Class Together</a:t>
            </a:r>
          </a:p>
        </p:txBody>
      </p:sp>
      <p:pic>
        <p:nvPicPr>
          <p:cNvPr id="3" name="Picture 2" descr="0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583680" cy="38949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600200"/>
            <a:ext cx="4343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740" indent="-20574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Women out-survived men in every class, and both sexes did better in higher classes.</a:t>
            </a:r>
          </a:p>
          <a:p>
            <a:pPr marL="205740" indent="-20574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First- and second-class women survived at 97% and 92%.</a:t>
            </a:r>
          </a:p>
          <a:p>
            <a:pPr marL="205740" indent="-205740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Third-class women (50%) still beat first-class men (37%).</a:t>
            </a:r>
          </a:p>
          <a:p>
            <a:pPr marL="205740" indent="-20574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Takeaway: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the two factors stack, and sex is the stronger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Analyze: Age</a:t>
            </a:r>
          </a:p>
        </p:txBody>
      </p:sp>
      <p:pic>
        <p:nvPicPr>
          <p:cNvPr id="3" name="Picture 2" descr="04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417320"/>
            <a:ext cx="9509760" cy="34595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749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Young children survived more often than they died, while ages 20 to 30 were dominated by deaths.</a:t>
            </a:r>
          </a:p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Split by sex, the effect is mostly for males: boys under 13 survived at about 56% versus about 16% for adult men.</a:t>
            </a:r>
          </a:p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Women survived at high rates at every age, which fits a "women and children first" pattern.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Analyze: Family Size</a:t>
            </a:r>
          </a:p>
        </p:txBody>
      </p:sp>
      <p:pic>
        <p:nvPicPr>
          <p:cNvPr id="3" name="Picture 2" descr="06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766560" cy="40940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6002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Survival follows an upside-down U.</a:t>
            </a:r>
          </a:p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Solo travelers (30.4%, the largest group at 537) and families of five or more (16.1%) did worst.</a:t>
            </a:r>
          </a:p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Families of two to four did best, at 55% to 72%.</a:t>
            </a:r>
          </a:p>
          <a:p>
            <a:pPr marL="194310" indent="-194310">
              <a:spcAft>
                <a:spcPts val="800"/>
              </a:spcAft>
              <a:buFont typeface="Arial"/>
              <a:buChar char="•"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Likely reason: 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many solo travelers were third-class men, and large families were mostly third class and harder to keep together.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Analyze: Fare and Port Reflect Class</a:t>
            </a:r>
          </a:p>
        </p:txBody>
      </p:sp>
      <p:pic>
        <p:nvPicPr>
          <p:cNvPr id="3" name="Picture 2" descr="05_f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4846320" cy="2967690"/>
          </a:xfrm>
          <a:prstGeom prst="rect">
            <a:avLst/>
          </a:prstGeom>
        </p:spPr>
      </p:pic>
      <p:pic>
        <p:nvPicPr>
          <p:cNvPr id="4" name="Picture 3" descr="07_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00200"/>
            <a:ext cx="6217920" cy="2217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43400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Fare: 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survivors paid a median of $26.00 versus $10.50, but inside third class the gap nearly disappears ($8.52 versus $8.05).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Port: 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Cherbourg survived at 55.4%, but 51% of its passengers were first class, compared with 20% at Southampton.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Lesson: 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a one-variable chart can mislead when another variable is doing the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Analyze: Statistical Checks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00200"/>
          <a:ext cx="5394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Variable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Chi-square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p-value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Cramer's V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Title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288.1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4.0e-61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Sex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260.7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1.2e-58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0.54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Ticket class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102.9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4.5e-23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0.34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Traveling alone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36.0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2.0e-09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0.20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Port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26.0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2.3e-06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Age group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17.1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1.8e-03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0.14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834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Every gap is far beyond chance (p &lt; 0.05), but sex and class are much stronger than the rest.</a:t>
            </a:r>
          </a:p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Class, cabin, and fare are strongly correlated with each other, so they overlap.</a:t>
            </a:r>
          </a:p>
        </p:txBody>
      </p:sp>
      <p:pic>
        <p:nvPicPr>
          <p:cNvPr id="5" name="Picture 4" descr="08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440680" cy="40246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Report: Results by Sub-Hypothesis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645920"/>
          <a:ext cx="10607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Claim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Evidence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73152" marR="73152" anchor="ctr">
                    <a:solidFill>
                      <a:srgbClr val="1C5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Women survived more than men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Female 74.2% vs male 18.9%; V = 0.54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Supported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H2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Survival falls from 1st to 3rd class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63.0% / 47.3% / 24.2%; V = 0.34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Supported</a:t>
                      </a:r>
                    </a:p>
                  </a:txBody>
                  <a:tcPr marL="73152" marR="73152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The sex gap holds inside every class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Women ahead in all 3 classes; 3rd-class women (50%) beat 1st-class men (37%)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Supported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47548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740" indent="-205740">
              <a:spcAft>
                <a:spcPts val="8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Conclusion: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the data supports the hypothesis. Sex outweighs class, so survival runs from upper-class women, through lower-class women and upper-class men, down to lower-class men.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Report: Key Findings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Strongest factors: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sex first, then class, and the two combine: 97% of first-class women survived versus 14% of third-class men.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Secondary factors: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boys under 13 survived far more than adult men, and small families survived more than solo travelers or large families.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Proxies: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fare and port look important but mostly reflect class.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Limitations: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associations, not causes; 20% of ages were imputed; 891 of about 2,200 people aboard; some groups are small.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Notebook and data: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https://github.com/OrangeJoe0421/ANA-500-MP2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1260</Words>
  <Application>Microsoft Office PowerPoint</Application>
  <PresentationFormat>Widescreen</PresentationFormat>
  <Paragraphs>142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Titanic Passenger Survival: Visual Analysis and Reporting Micro-Project 2 https://github.com/OrangeJoe0421/ANA-500-MP2</vt:lpstr>
      <vt:lpstr>Problem Statement</vt:lpstr>
      <vt:lpstr>Hypothesis Formulation</vt:lpstr>
      <vt:lpstr>Acquire</vt:lpstr>
      <vt:lpstr>Prepare: Revisiting the Missing Ports</vt:lpstr>
      <vt:lpstr>Prepare: Building the Analysis Set</vt:lpstr>
      <vt:lpstr>Analyze: Techniques Used</vt:lpstr>
      <vt:lpstr>Analyze: Survival by Sex and Class</vt:lpstr>
      <vt:lpstr>Analyze: Sex and Class Together</vt:lpstr>
      <vt:lpstr>Analyze: Age</vt:lpstr>
      <vt:lpstr>Analyze: Family Size</vt:lpstr>
      <vt:lpstr>Analyze: Fare and Port Reflect Class</vt:lpstr>
      <vt:lpstr>Analyze: Statistical Checks</vt:lpstr>
      <vt:lpstr>Report: Results by Sub-Hypothesis</vt:lpstr>
      <vt:lpstr>Report: Key Findings and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Title&gt; &lt;Micro-Project #&gt;</dc:title>
  <dc:creator>Emmanuel J Rodriguez</dc:creator>
  <cp:lastModifiedBy>Travis James</cp:lastModifiedBy>
  <cp:revision>3</cp:revision>
  <dcterms:created xsi:type="dcterms:W3CDTF">2022-03-01T22:05:03Z</dcterms:created>
  <dcterms:modified xsi:type="dcterms:W3CDTF">2026-09-28T21:55:10Z</dcterms:modified>
</cp:coreProperties>
</file>