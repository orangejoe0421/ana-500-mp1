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4"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900701-4350-46B0-B667-6B406B94FF7B}" v="3" dt="2022-03-01T23:50:13.3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8" d="100"/>
          <a:sy n="108" d="100"/>
        </p:scale>
        <p:origin x="6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5/10/relationships/revisionInfo" Target="revisionInfo.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84A48-ED60-4C3D-8040-EA420D1376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950468-0315-4B9D-B09C-8C8C8EBD6A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7C4A60-6695-4CB3-AF2E-ACFA3C0B87F1}"/>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5" name="Footer Placeholder 4">
            <a:extLst>
              <a:ext uri="{FF2B5EF4-FFF2-40B4-BE49-F238E27FC236}">
                <a16:creationId xmlns:a16="http://schemas.microsoft.com/office/drawing/2014/main" id="{842D2078-2F8D-45FB-9C14-17036DA5D3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DD9676-FA59-4F47-9033-2CFC7976370A}"/>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191420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04559-4EA9-4030-8CD7-225515C39D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A446E6-DF6C-44D2-BA71-5D6445655C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F5ECAD-0D49-425E-99BE-4E9A279761FE}"/>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5" name="Footer Placeholder 4">
            <a:extLst>
              <a:ext uri="{FF2B5EF4-FFF2-40B4-BE49-F238E27FC236}">
                <a16:creationId xmlns:a16="http://schemas.microsoft.com/office/drawing/2014/main" id="{01B6268D-3BF4-472B-B1D5-518489674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F4C8E-AFA1-48CB-9BE5-583A37660428}"/>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624279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CC60D-06AE-4839-A5F6-DB50DF8789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8C870F-1989-4744-AA64-C97EBC3080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3CF60B-312D-4E68-B904-78A68C9AF98E}"/>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5" name="Footer Placeholder 4">
            <a:extLst>
              <a:ext uri="{FF2B5EF4-FFF2-40B4-BE49-F238E27FC236}">
                <a16:creationId xmlns:a16="http://schemas.microsoft.com/office/drawing/2014/main" id="{0A05CA4F-B8D7-4A59-A5BA-74DF90CC1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BAD61-51E4-4D1D-8E14-1EB20C0ECB7D}"/>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333503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51454-95B8-455D-BFC1-6C6DA3603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3FBC0B-D342-4647-B5BA-5B6ADF294E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69BC10-2FBB-4372-AE80-21EC4AB47A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FE6231-D355-4CB0-AB68-1D21D4EB6ACF}"/>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6" name="Footer Placeholder 5">
            <a:extLst>
              <a:ext uri="{FF2B5EF4-FFF2-40B4-BE49-F238E27FC236}">
                <a16:creationId xmlns:a16="http://schemas.microsoft.com/office/drawing/2014/main" id="{AB01BF01-A233-43E9-8949-BAADCAF957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EA8DA2-49A7-4CD4-AD2A-B4AE89F09C29}"/>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464572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A6AAD-2645-4527-94B3-3A3BECB928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031552-937E-4EAB-883E-C29FBC415B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3455D9-4697-44D3-AB55-9CADBE716D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58DC7D-BF9A-4F54-AB58-1C49FFA17D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D3AE0C-DB47-4E16-828A-3429714FAD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3C3C45-525E-4801-90AF-776B7EFC5ADB}"/>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8" name="Footer Placeholder 7">
            <a:extLst>
              <a:ext uri="{FF2B5EF4-FFF2-40B4-BE49-F238E27FC236}">
                <a16:creationId xmlns:a16="http://schemas.microsoft.com/office/drawing/2014/main" id="{F3B6704D-F5BC-4598-B7E7-5F53967A67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D9A6A6-BB3C-4DD0-A205-F8593CED1076}"/>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108940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609AA-EE0C-4FE6-8E30-99E91A13B5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DA744A-AA0E-40C1-82B4-1865879ADE95}"/>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4" name="Footer Placeholder 3">
            <a:extLst>
              <a:ext uri="{FF2B5EF4-FFF2-40B4-BE49-F238E27FC236}">
                <a16:creationId xmlns:a16="http://schemas.microsoft.com/office/drawing/2014/main" id="{AD1794A4-DA55-49C9-9EE1-51AFA79807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3A595F-05DA-41C2-AFB0-CC51AFDB903E}"/>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15757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5F4ACF-3F96-4D20-91DE-5A7A89B4A2B5}"/>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3" name="Footer Placeholder 2">
            <a:extLst>
              <a:ext uri="{FF2B5EF4-FFF2-40B4-BE49-F238E27FC236}">
                <a16:creationId xmlns:a16="http://schemas.microsoft.com/office/drawing/2014/main" id="{4D2B232B-2221-443B-9621-C2FFF41601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970A4F-5257-4439-983C-D802F7190B32}"/>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092692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5D602-AEC1-494B-9EC8-423C9605B1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AC75CB-286B-4E0D-946F-B2152E792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6FE692-594E-4FE0-A040-69DCF74AA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E66829-7538-463B-99D9-8920CBDF4060}"/>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6" name="Footer Placeholder 5">
            <a:extLst>
              <a:ext uri="{FF2B5EF4-FFF2-40B4-BE49-F238E27FC236}">
                <a16:creationId xmlns:a16="http://schemas.microsoft.com/office/drawing/2014/main" id="{EAB5AFDF-77FC-4354-AF3B-008607F92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77315B-5282-41D1-99A3-2ADE83DA19EE}"/>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381724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77A91-0A20-466E-9CA8-86B63BE8AF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8C2C4C-22CA-4398-A23B-4F068FB5A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574D67-2A27-42C6-815E-BE5AD10D3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BB23AA-5E29-4400-B52D-822F13ED6B94}"/>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6" name="Footer Placeholder 5">
            <a:extLst>
              <a:ext uri="{FF2B5EF4-FFF2-40B4-BE49-F238E27FC236}">
                <a16:creationId xmlns:a16="http://schemas.microsoft.com/office/drawing/2014/main" id="{FA368ADC-B329-411C-AA83-9EEADAE8A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78A6D9-A5FD-46E3-8F58-CDC4CC4B895B}"/>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768824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59857-0725-4AFD-ADA1-93DE6885A9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742F07-D500-4235-A3BD-4E9FA3C926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AB7CF7-F61A-47E7-B601-419FF069E767}"/>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5" name="Footer Placeholder 4">
            <a:extLst>
              <a:ext uri="{FF2B5EF4-FFF2-40B4-BE49-F238E27FC236}">
                <a16:creationId xmlns:a16="http://schemas.microsoft.com/office/drawing/2014/main" id="{6918C1B3-4CDE-4267-AF19-9C2FCF860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D38641-A10F-457F-B6A9-3F574B2B266E}"/>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421247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3A314E-DAF4-459C-AF7B-C7347C7639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BE33E-4004-41A3-B3E6-14272F53B3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1A99DB-D8D6-44B2-B140-B5C0DD69889A}"/>
              </a:ext>
            </a:extLst>
          </p:cNvPr>
          <p:cNvSpPr>
            <a:spLocks noGrp="1"/>
          </p:cNvSpPr>
          <p:nvPr>
            <p:ph type="dt" sz="half" idx="10"/>
          </p:nvPr>
        </p:nvSpPr>
        <p:spPr/>
        <p:txBody>
          <a:bodyPr/>
          <a:lstStyle/>
          <a:p>
            <a:fld id="{3F52AFC1-4F45-459D-BC95-0F8F5E3A4294}" type="datetimeFigureOut">
              <a:rPr lang="en-US" smtClean="0"/>
              <a:t>10/4/2026</a:t>
            </a:fld>
            <a:endParaRPr lang="en-US"/>
          </a:p>
        </p:txBody>
      </p:sp>
      <p:sp>
        <p:nvSpPr>
          <p:cNvPr id="5" name="Footer Placeholder 4">
            <a:extLst>
              <a:ext uri="{FF2B5EF4-FFF2-40B4-BE49-F238E27FC236}">
                <a16:creationId xmlns:a16="http://schemas.microsoft.com/office/drawing/2014/main" id="{131BF21E-4345-40CE-88C3-7C77ECC010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1F20F6-FD42-49EE-AE17-171924F49826}"/>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53232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B5F7E3-61B5-4449-80CF-04DA4D37AB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CFC45A-DECF-4B86-87F6-C12B501A4F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C712EE-4BB3-49D3-9FAF-733EA6255E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52AFC1-4F45-459D-BC95-0F8F5E3A4294}" type="datetimeFigureOut">
              <a:rPr lang="en-US" smtClean="0"/>
              <a:t>10/4/2026</a:t>
            </a:fld>
            <a:endParaRPr lang="en-US"/>
          </a:p>
        </p:txBody>
      </p:sp>
      <p:sp>
        <p:nvSpPr>
          <p:cNvPr id="5" name="Footer Placeholder 4">
            <a:extLst>
              <a:ext uri="{FF2B5EF4-FFF2-40B4-BE49-F238E27FC236}">
                <a16:creationId xmlns:a16="http://schemas.microsoft.com/office/drawing/2014/main" id="{83DFC8A3-CA43-47DE-88A0-18EE8FB2D2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38CC4C2-DBD2-41A0-8542-0ED48583DA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5D697-CC64-4CAF-A466-D1105DD36B62}" type="slidenum">
              <a:rPr lang="en-US" smtClean="0"/>
              <a:t>‹#›</a:t>
            </a:fld>
            <a:endParaRPr lang="en-US"/>
          </a:p>
        </p:txBody>
      </p:sp>
    </p:spTree>
    <p:extLst>
      <p:ext uri="{BB962C8B-B14F-4D97-AF65-F5344CB8AC3E}">
        <p14:creationId xmlns:p14="http://schemas.microsoft.com/office/powerpoint/2010/main" val="496281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FD3DB-B193-4E72-861B-FE835A2E1FAD}"/>
              </a:ext>
            </a:extLst>
          </p:cNvPr>
          <p:cNvSpPr>
            <a:spLocks noGrp="1"/>
          </p:cNvSpPr>
          <p:nvPr>
            <p:ph type="ctrTitle"/>
          </p:nvPr>
        </p:nvSpPr>
        <p:spPr/>
        <p:txBody>
          <a:bodyPr>
            <a:normAutofit/>
          </a:bodyPr>
          <a:lstStyle/>
          <a:p>
            <a:r>
              <a:rPr lang="en-US" sz="3600" dirty="0"/>
              <a:t>Titanic Passenger Survival</a:t>
            </a:r>
            <a:br>
              <a:rPr lang="en-US" sz="3600" dirty="0"/>
            </a:br>
            <a:r>
              <a:rPr lang="en-US" sz="3200" dirty="0"/>
              <a:t>Micro-Project 3 (Micro-Projects 1 to 3)</a:t>
            </a:r>
            <a:br>
              <a:rPr lang="en-US" sz="2000" dirty="0"/>
            </a:br>
            <a:r>
              <a:rPr lang="en-US" sz="2000" dirty="0"/>
              <a:t>https://github.com/OrangeJoe0421/ANA-500-MP3</a:t>
            </a:r>
            <a:endParaRPr lang="en-US" dirty="0"/>
          </a:p>
        </p:txBody>
      </p:sp>
      <p:sp>
        <p:nvSpPr>
          <p:cNvPr id="3" name="Subtitle 2">
            <a:extLst>
              <a:ext uri="{FF2B5EF4-FFF2-40B4-BE49-F238E27FC236}">
                <a16:creationId xmlns:a16="http://schemas.microsoft.com/office/drawing/2014/main" id="{76B5E315-C208-479B-A6B8-0DCBEF2B5FB3}"/>
              </a:ext>
            </a:extLst>
          </p:cNvPr>
          <p:cNvSpPr>
            <a:spLocks noGrp="1"/>
          </p:cNvSpPr>
          <p:nvPr>
            <p:ph type="subTitle" idx="1"/>
          </p:nvPr>
        </p:nvSpPr>
        <p:spPr/>
        <p:txBody>
          <a:bodyPr/>
          <a:lstStyle/>
          <a:p>
            <a:r>
              <a:rPr lang="en-US" dirty="0"/>
              <a:t>Travis James</a:t>
            </a:r>
          </a:p>
          <a:p>
            <a:r>
              <a:rPr lang="en-US" dirty="0"/>
              <a:t>October 4, 2026</a:t>
            </a:r>
          </a:p>
        </p:txBody>
      </p:sp>
    </p:spTree>
    <p:extLst>
      <p:ext uri="{BB962C8B-B14F-4D97-AF65-F5344CB8AC3E}">
        <p14:creationId xmlns:p14="http://schemas.microsoft.com/office/powerpoint/2010/main" val="3651251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302AB-CEDA-4E89-A1DC-6BABC9C3F7D4}"/>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05AD07EA-4B74-4BFA-A23D-5147B6A28FC4}"/>
              </a:ext>
            </a:extLst>
          </p:cNvPr>
          <p:cNvSpPr>
            <a:spLocks noGrp="1"/>
          </p:cNvSpPr>
          <p:nvPr>
            <p:ph idx="1"/>
          </p:nvPr>
        </p:nvSpPr>
        <p:spPr/>
        <p:txBody>
          <a:bodyPr/>
          <a:lstStyle/>
          <a:p>
            <a:pPr>
              <a:spcAft>
                <a:spcPts val="800"/>
              </a:spcAft>
            </a:pPr>
            <a:r>
              <a:rPr sz="2000" b="0">
                <a:solidFill>
                  <a:srgbClr val="000000"/>
                </a:solidFill>
                <a:latin typeface="Times New Roman"/>
              </a:rPr>
              <a:t>Survival on the Titanic was not random. Using the passenger manifest, this project examines which passenger characteristics were associated with survival, whether those associations hold when the characteristics are considered together, and how accurately survival can be predicted from them.</a:t>
            </a:r>
          </a:p>
          <a:p>
            <a:pPr>
              <a:spcAft>
                <a:spcPts val="800"/>
              </a:spcAft>
            </a:pPr>
            <a:r>
              <a:rPr sz="2000" b="1">
                <a:solidFill>
                  <a:srgbClr val="000000"/>
                </a:solidFill>
                <a:latin typeface="Times New Roman"/>
              </a:rPr>
              <a:t>Characteristics considered: </a:t>
            </a:r>
            <a:r>
              <a:rPr sz="2000" b="0">
                <a:solidFill>
                  <a:srgbClr val="000000"/>
                </a:solidFill>
                <a:latin typeface="Times New Roman"/>
              </a:rPr>
              <a:t>sex, ticket class, age, family size, fare, and port of embarkation.</a:t>
            </a:r>
          </a:p>
          <a:p>
            <a:pPr>
              <a:spcAft>
                <a:spcPts val="800"/>
              </a:spcAft>
            </a:pPr>
            <a:r>
              <a:rPr sz="2000" b="1">
                <a:solidFill>
                  <a:srgbClr val="000000"/>
                </a:solidFill>
                <a:latin typeface="Times New Roman"/>
              </a:rPr>
              <a:t>Scope by micro-project: </a:t>
            </a:r>
          </a:p>
          <a:p>
            <a:pPr lvl="1">
              <a:spcAft>
                <a:spcPts val="800"/>
              </a:spcAft>
            </a:pPr>
            <a:r>
              <a:rPr sz="2000" b="1">
                <a:solidFill>
                  <a:srgbClr val="000000"/>
                </a:solidFill>
                <a:latin typeface="Times New Roman"/>
              </a:rPr>
              <a:t>Micro-Project 1: </a:t>
            </a:r>
            <a:r>
              <a:rPr sz="2000" b="0">
                <a:solidFill>
                  <a:srgbClr val="000000"/>
                </a:solidFill>
                <a:latin typeface="Times New Roman"/>
              </a:rPr>
              <a:t>acquire and prepare the data (NumPy, Pandas).</a:t>
            </a:r>
          </a:p>
          <a:p>
            <a:pPr lvl="1">
              <a:spcAft>
                <a:spcPts val="800"/>
              </a:spcAft>
            </a:pPr>
            <a:r>
              <a:rPr sz="2000" b="1">
                <a:solidFill>
                  <a:srgbClr val="000000"/>
                </a:solidFill>
                <a:latin typeface="Times New Roman"/>
              </a:rPr>
              <a:t>Micro-Project 2: </a:t>
            </a:r>
            <a:r>
              <a:rPr sz="2000" b="0">
                <a:solidFill>
                  <a:srgbClr val="000000"/>
                </a:solidFill>
                <a:latin typeface="Times New Roman"/>
              </a:rPr>
              <a:t>visual analysis and reporting (Matplotlib, Seaborn).</a:t>
            </a:r>
          </a:p>
          <a:p>
            <a:pPr lvl="1">
              <a:spcAft>
                <a:spcPts val="800"/>
              </a:spcAft>
            </a:pPr>
            <a:r>
              <a:rPr sz="2000" b="1">
                <a:solidFill>
                  <a:srgbClr val="000000"/>
                </a:solidFill>
                <a:latin typeface="Times New Roman"/>
              </a:rPr>
              <a:t>Micro-Project 3: </a:t>
            </a:r>
            <a:r>
              <a:rPr sz="2000" b="0">
                <a:solidFill>
                  <a:srgbClr val="000000"/>
                </a:solidFill>
                <a:latin typeface="Times New Roman"/>
              </a:rPr>
              <a:t>modeling and action (logistic regression, SVM, linear regression, SVR).</a:t>
            </a:r>
          </a:p>
        </p:txBody>
      </p:sp>
    </p:spTree>
    <p:extLst>
      <p:ext uri="{BB962C8B-B14F-4D97-AF65-F5344CB8AC3E}">
        <p14:creationId xmlns:p14="http://schemas.microsoft.com/office/powerpoint/2010/main" val="1880678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9C91F-7913-4D5C-A911-ADD4837DAA00}"/>
              </a:ext>
            </a:extLst>
          </p:cNvPr>
          <p:cNvSpPr>
            <a:spLocks noGrp="1"/>
          </p:cNvSpPr>
          <p:nvPr>
            <p:ph type="title"/>
          </p:nvPr>
        </p:nvSpPr>
        <p:spPr/>
        <p:txBody>
          <a:bodyPr/>
          <a:lstStyle/>
          <a:p>
            <a:r>
              <a:rPr lang="en-US" dirty="0"/>
              <a:t>Hypothesis Formulation</a:t>
            </a:r>
          </a:p>
        </p:txBody>
      </p:sp>
      <p:sp>
        <p:nvSpPr>
          <p:cNvPr id="3" name="Content Placeholder 2">
            <a:extLst>
              <a:ext uri="{FF2B5EF4-FFF2-40B4-BE49-F238E27FC236}">
                <a16:creationId xmlns:a16="http://schemas.microsoft.com/office/drawing/2014/main" id="{905A42CE-FCD3-41B9-A629-5F3C6031F3C0}"/>
              </a:ext>
            </a:extLst>
          </p:cNvPr>
          <p:cNvSpPr>
            <a:spLocks noGrp="1"/>
          </p:cNvSpPr>
          <p:nvPr>
            <p:ph idx="1"/>
          </p:nvPr>
        </p:nvSpPr>
        <p:spPr/>
        <p:txBody>
          <a:bodyPr/>
          <a:lstStyle/>
          <a:p>
            <a:pPr>
              <a:spcAft>
                <a:spcPts val="300"/>
              </a:spcAft>
            </a:pPr>
            <a:r>
              <a:rPr sz="1700" b="1">
                <a:solidFill>
                  <a:srgbClr val="000000"/>
                </a:solidFill>
                <a:latin typeface="Times New Roman"/>
              </a:rPr>
              <a:t>Hypothesis: </a:t>
            </a:r>
            <a:r>
              <a:rPr sz="1700" b="0">
                <a:solidFill>
                  <a:srgbClr val="000000"/>
                </a:solidFill>
                <a:latin typeface="Times New Roman"/>
              </a:rPr>
              <a:t>women and passengers in higher ticket classes survived at higher rates than men and passengers in lower ticket classes.</a:t>
            </a:r>
          </a:p>
          <a:p>
            <a:pPr>
              <a:spcAft>
                <a:spcPts val="300"/>
              </a:spcAft>
            </a:pPr>
            <a:r>
              <a:rPr sz="1700" b="1">
                <a:solidFill>
                  <a:srgbClr val="000000"/>
                </a:solidFill>
                <a:latin typeface="Times New Roman"/>
              </a:rPr>
              <a:t>One variable at a time (Micro-Project 2): </a:t>
            </a:r>
          </a:p>
          <a:p>
            <a:pPr lvl="1">
              <a:spcAft>
                <a:spcPts val="300"/>
              </a:spcAft>
            </a:pPr>
            <a:r>
              <a:rPr sz="1700" b="1">
                <a:solidFill>
                  <a:srgbClr val="000000"/>
                </a:solidFill>
                <a:latin typeface="Times New Roman"/>
              </a:rPr>
              <a:t>H1: </a:t>
            </a:r>
            <a:r>
              <a:rPr sz="1700" b="0">
                <a:solidFill>
                  <a:srgbClr val="000000"/>
                </a:solidFill>
                <a:latin typeface="Times New Roman"/>
              </a:rPr>
              <a:t>women survived at a higher rate than men.</a:t>
            </a:r>
          </a:p>
          <a:p>
            <a:pPr lvl="1">
              <a:spcAft>
                <a:spcPts val="300"/>
              </a:spcAft>
            </a:pPr>
            <a:r>
              <a:rPr sz="1700" b="1">
                <a:solidFill>
                  <a:srgbClr val="000000"/>
                </a:solidFill>
                <a:latin typeface="Times New Roman"/>
              </a:rPr>
              <a:t>H2: </a:t>
            </a:r>
            <a:r>
              <a:rPr sz="1700" b="0">
                <a:solidFill>
                  <a:srgbClr val="000000"/>
                </a:solidFill>
                <a:latin typeface="Times New Roman"/>
              </a:rPr>
              <a:t>survival rate falls from first to third class.</a:t>
            </a:r>
          </a:p>
          <a:p>
            <a:pPr lvl="1">
              <a:spcAft>
                <a:spcPts val="300"/>
              </a:spcAft>
            </a:pPr>
            <a:r>
              <a:rPr sz="1700" b="1">
                <a:solidFill>
                  <a:srgbClr val="000000"/>
                </a:solidFill>
                <a:latin typeface="Times New Roman"/>
              </a:rPr>
              <a:t>H3: </a:t>
            </a:r>
            <a:r>
              <a:rPr sz="1700" b="0">
                <a:solidFill>
                  <a:srgbClr val="000000"/>
                </a:solidFill>
                <a:latin typeface="Times New Roman"/>
              </a:rPr>
              <a:t>women out-survived men inside every class.</a:t>
            </a:r>
          </a:p>
          <a:p>
            <a:pPr>
              <a:spcAft>
                <a:spcPts val="300"/>
              </a:spcAft>
            </a:pPr>
            <a:r>
              <a:rPr sz="1700" b="1">
                <a:solidFill>
                  <a:srgbClr val="000000"/>
                </a:solidFill>
                <a:latin typeface="Times New Roman"/>
              </a:rPr>
              <a:t>Evaluated together (Micro-Project 3): </a:t>
            </a:r>
          </a:p>
          <a:p>
            <a:pPr lvl="1">
              <a:spcAft>
                <a:spcPts val="300"/>
              </a:spcAft>
            </a:pPr>
            <a:r>
              <a:rPr sz="1700" b="1">
                <a:solidFill>
                  <a:srgbClr val="000000"/>
                </a:solidFill>
                <a:latin typeface="Times New Roman"/>
              </a:rPr>
              <a:t>H4: </a:t>
            </a:r>
            <a:r>
              <a:rPr sz="1700" b="0">
                <a:solidFill>
                  <a:srgbClr val="000000"/>
                </a:solidFill>
                <a:latin typeface="Times New Roman"/>
              </a:rPr>
              <a:t>sex remains associated with survival after adjusting for class, age, family size, and port.</a:t>
            </a:r>
          </a:p>
          <a:p>
            <a:pPr lvl="1">
              <a:spcAft>
                <a:spcPts val="300"/>
              </a:spcAft>
            </a:pPr>
            <a:r>
              <a:rPr sz="1700" b="1">
                <a:solidFill>
                  <a:srgbClr val="000000"/>
                </a:solidFill>
                <a:latin typeface="Times New Roman"/>
              </a:rPr>
              <a:t>H5: </a:t>
            </a:r>
            <a:r>
              <a:rPr sz="1700" b="0">
                <a:solidFill>
                  <a:srgbClr val="000000"/>
                </a:solidFill>
                <a:latin typeface="Times New Roman"/>
              </a:rPr>
              <a:t>class remains associated after the same adjustment.</a:t>
            </a:r>
          </a:p>
          <a:p>
            <a:pPr lvl="1">
              <a:spcAft>
                <a:spcPts val="300"/>
              </a:spcAft>
            </a:pPr>
            <a:r>
              <a:rPr sz="1700" b="1">
                <a:solidFill>
                  <a:srgbClr val="000000"/>
                </a:solidFill>
                <a:latin typeface="Times New Roman"/>
              </a:rPr>
              <a:t>H6: </a:t>
            </a:r>
            <a:r>
              <a:rPr sz="1700" b="0">
                <a:solidFill>
                  <a:srgbClr val="000000"/>
                </a:solidFill>
                <a:latin typeface="Times New Roman"/>
              </a:rPr>
              <a:t>the difference between women and men is not the same in every class.</a:t>
            </a:r>
          </a:p>
          <a:p>
            <a:pPr lvl="1">
              <a:spcAft>
                <a:spcPts val="300"/>
              </a:spcAft>
            </a:pPr>
            <a:r>
              <a:rPr sz="1700" b="1">
                <a:solidFill>
                  <a:srgbClr val="000000"/>
                </a:solidFill>
                <a:latin typeface="Times New Roman"/>
              </a:rPr>
              <a:t>H7: </a:t>
            </a:r>
            <a:r>
              <a:rPr sz="1700" b="0">
                <a:solidFill>
                  <a:srgbClr val="000000"/>
                </a:solidFill>
                <a:latin typeface="Times New Roman"/>
              </a:rPr>
              <a:t>models predict survival better than always guessing the most common outcome.</a:t>
            </a:r>
          </a:p>
          <a:p>
            <a:pPr lvl="1">
              <a:spcAft>
                <a:spcPts val="300"/>
              </a:spcAft>
            </a:pPr>
            <a:r>
              <a:rPr sz="1700" b="1">
                <a:solidFill>
                  <a:srgbClr val="000000"/>
                </a:solidFill>
                <a:latin typeface="Times New Roman"/>
              </a:rPr>
              <a:t>H8 (supporting): </a:t>
            </a:r>
            <a:r>
              <a:rPr sz="1700" b="0">
                <a:solidFill>
                  <a:srgbClr val="000000"/>
                </a:solidFill>
                <a:latin typeface="Times New Roman"/>
              </a:rPr>
              <a:t>fare can be predicted from class, cabin, port, and ticket group size.</a:t>
            </a:r>
          </a:p>
        </p:txBody>
      </p:sp>
    </p:spTree>
    <p:extLst>
      <p:ext uri="{BB962C8B-B14F-4D97-AF65-F5344CB8AC3E}">
        <p14:creationId xmlns:p14="http://schemas.microsoft.com/office/powerpoint/2010/main" val="3306958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Acquire</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normAutofit lnSpcReduction="10000"/>
          </a:bodyPr>
          <a:lstStyle/>
          <a:p>
            <a:pPr>
              <a:spcAft>
                <a:spcPts val="1000"/>
              </a:spcAft>
            </a:pPr>
            <a:r>
              <a:rPr sz="2000" b="1">
                <a:solidFill>
                  <a:srgbClr val="000000"/>
                </a:solidFill>
                <a:latin typeface="Times New Roman"/>
              </a:rPr>
              <a:t>Source: </a:t>
            </a:r>
            <a:r>
              <a:rPr sz="2000" b="0">
                <a:solidFill>
                  <a:srgbClr val="000000"/>
                </a:solidFill>
                <a:latin typeface="Times New Roman"/>
              </a:rPr>
              <a:t>titanic.csv, loaded with read_csv: 1,309 passengers and 12 columns (PassengerId, Survived, Pclass, Name, Sex, Age, SibSp, Parch, Ticket, Fare, Cabin, Embarked).</a:t>
            </a:r>
          </a:p>
          <a:p>
            <a:pPr>
              <a:spcAft>
                <a:spcPts val="1000"/>
              </a:spcAft>
            </a:pPr>
            <a:r>
              <a:rPr sz="2000" b="1">
                <a:solidFill>
                  <a:srgbClr val="000000"/>
                </a:solidFill>
                <a:latin typeface="Times New Roman"/>
              </a:rPr>
              <a:t>Queried: </a:t>
            </a:r>
            <a:r>
              <a:rPr sz="2000" b="0">
                <a:solidFill>
                  <a:srgbClr val="000000"/>
                </a:solidFill>
                <a:latin typeface="Times New Roman"/>
              </a:rPr>
              <a:t>info(), describe(), and value_counts() to inspect data types, ranges, and category counts.</a:t>
            </a:r>
          </a:p>
          <a:p>
            <a:pPr>
              <a:spcAft>
                <a:spcPts val="1000"/>
              </a:spcAft>
            </a:pPr>
            <a:r>
              <a:rPr sz="2000" b="1">
                <a:solidFill>
                  <a:srgbClr val="000000"/>
                </a:solidFill>
                <a:latin typeface="Times New Roman"/>
              </a:rPr>
              <a:t>Key finding: </a:t>
            </a:r>
            <a:r>
              <a:rPr sz="2000" b="0">
                <a:solidFill>
                  <a:srgbClr val="000000"/>
                </a:solidFill>
                <a:latin typeface="Times New Roman"/>
              </a:rPr>
              <a:t>Survived is blank for 418 rows (PassengerId 892 to 1309), so only 891 passengers have a known outcome.</a:t>
            </a:r>
          </a:p>
          <a:p>
            <a:pPr>
              <a:spcAft>
                <a:spcPts val="1000"/>
              </a:spcAft>
            </a:pPr>
            <a:r>
              <a:rPr sz="2000" b="1">
                <a:solidFill>
                  <a:srgbClr val="000000"/>
                </a:solidFill>
                <a:latin typeface="Times New Roman"/>
              </a:rPr>
              <a:t>Later micro-projects: </a:t>
            </a:r>
            <a:r>
              <a:rPr sz="2000" b="0">
                <a:solidFill>
                  <a:srgbClr val="000000"/>
                </a:solidFill>
                <a:latin typeface="Times New Roman"/>
              </a:rPr>
              <a:t>each one loads the file saved at the end of the previous one (titanic_clean.csv, then titanic_analysis.csv) and confirms it with assertions.</a:t>
            </a:r>
          </a:p>
        </p:txBody>
      </p:sp>
    </p:spTree>
    <p:extLst>
      <p:ext uri="{BB962C8B-B14F-4D97-AF65-F5344CB8AC3E}">
        <p14:creationId xmlns:p14="http://schemas.microsoft.com/office/powerpoint/2010/main" val="427023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Prepare: Explore</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lstStyle/>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Missing values: </a:t>
            </a:r>
            <a:r>
              <a:rPr lang="en-US" sz="2400" dirty="0">
                <a:solidFill>
                  <a:srgbClr val="000000"/>
                </a:solidFill>
                <a:effectLst/>
                <a:latin typeface="Times New Roman" panose="02020603050405020304" pitchFamily="18" charset="0"/>
                <a:ea typeface="Times New Roman" panose="02020603050405020304" pitchFamily="18" charset="0"/>
              </a:rPr>
              <a:t>Cabin 1,014 (77.5%), Survived 418 (31.9%), Age 263 (20.1%), Embarked 2, Fare 1.</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Age gaps are uneven: </a:t>
            </a:r>
            <a:r>
              <a:rPr lang="en-US" sz="2400" dirty="0">
                <a:solidFill>
                  <a:srgbClr val="000000"/>
                </a:solidFill>
                <a:effectLst/>
                <a:latin typeface="Times New Roman" panose="02020603050405020304" pitchFamily="18" charset="0"/>
                <a:ea typeface="Times New Roman" panose="02020603050405020304" pitchFamily="18" charset="0"/>
              </a:rPr>
              <a:t>about 29% of third-class ages are missing versus 3% to 16% in first and second class.</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Duplicates: </a:t>
            </a:r>
            <a:r>
              <a:rPr lang="en-US" sz="2400" dirty="0">
                <a:solidFill>
                  <a:srgbClr val="000000"/>
                </a:solidFill>
                <a:effectLst/>
                <a:latin typeface="Times New Roman" panose="02020603050405020304" pitchFamily="18" charset="0"/>
                <a:ea typeface="Times New Roman" panose="02020603050405020304" pitchFamily="18" charset="0"/>
              </a:rPr>
              <a:t>no fully duplicated rows and PassengerId is unique. Two repeated names belong to different passengers (different tickets and ages).</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Validity: </a:t>
            </a:r>
            <a:r>
              <a:rPr lang="en-US" sz="2400" dirty="0">
                <a:solidFill>
                  <a:srgbClr val="000000"/>
                </a:solidFill>
                <a:effectLst/>
                <a:latin typeface="Times New Roman" panose="02020603050405020304" pitchFamily="18" charset="0"/>
                <a:ea typeface="Times New Roman" panose="02020603050405020304" pitchFamily="18" charset="0"/>
              </a:rPr>
              <a:t>Pclass, Sex, and Embarked contain only expected values, and no counts are negative.</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Suspicious values: </a:t>
            </a:r>
            <a:r>
              <a:rPr lang="en-US" sz="2400" dirty="0">
                <a:solidFill>
                  <a:srgbClr val="000000"/>
                </a:solidFill>
                <a:effectLst/>
                <a:latin typeface="Times New Roman" panose="02020603050405020304" pitchFamily="18" charset="0"/>
                <a:ea typeface="Times New Roman" panose="02020603050405020304" pitchFamily="18" charset="0"/>
              </a:rPr>
              <a:t>17 fares equal 0 and 12 ages are under 1 (real infants). Fare is strongly right-skewed (skewness 4.37), with 171 values above the IQR upper fence.</a:t>
            </a:r>
          </a:p>
        </p:txBody>
      </p:sp>
    </p:spTree>
    <p:extLst>
      <p:ext uri="{BB962C8B-B14F-4D97-AF65-F5344CB8AC3E}">
        <p14:creationId xmlns:p14="http://schemas.microsoft.com/office/powerpoint/2010/main" val="2788217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Prepare: Clean and Transform</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lstStyle/>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Age (263 missing): </a:t>
            </a:r>
            <a:r>
              <a:rPr lang="en-US" sz="2400" dirty="0">
                <a:solidFill>
                  <a:srgbClr val="000000"/>
                </a:solidFill>
                <a:effectLst/>
                <a:latin typeface="Times New Roman" panose="02020603050405020304" pitchFamily="18" charset="0"/>
                <a:ea typeface="Times New Roman" panose="02020603050405020304" pitchFamily="18" charset="0"/>
              </a:rPr>
              <a:t>filled with the median age of the same ticket class and title, with an AgeWasMissing flag to keep it traceable.</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Cabin (77.5% missing): </a:t>
            </a:r>
            <a:r>
              <a:rPr lang="en-US" sz="2400" dirty="0">
                <a:solidFill>
                  <a:srgbClr val="000000"/>
                </a:solidFill>
                <a:effectLst/>
                <a:latin typeface="Times New Roman" panose="02020603050405020304" pitchFamily="18" charset="0"/>
                <a:ea typeface="Times New Roman" panose="02020603050405020304" pitchFamily="18" charset="0"/>
              </a:rPr>
              <a:t>replaced with HasCabin and Deck, and the raw column was dropped.</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Embarked, Fare, and zero fares: </a:t>
            </a:r>
            <a:r>
              <a:rPr lang="en-US" sz="2400" dirty="0">
                <a:solidFill>
                  <a:srgbClr val="000000"/>
                </a:solidFill>
                <a:effectLst/>
                <a:latin typeface="Times New Roman" panose="02020603050405020304" pitchFamily="18" charset="0"/>
                <a:ea typeface="Times New Roman" panose="02020603050405020304" pitchFamily="18" charset="0"/>
              </a:rPr>
              <a:t>2 missing ports filled with the most common port (S), 1 missing fare filled with the median fare of its class, and 17 zero fares kept and flagged.</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Survived: </a:t>
            </a:r>
            <a:r>
              <a:rPr lang="en-US" sz="2400" dirty="0">
                <a:solidFill>
                  <a:srgbClr val="000000"/>
                </a:solidFill>
                <a:effectLst/>
                <a:latin typeface="Times New Roman" panose="02020603050405020304" pitchFamily="18" charset="0"/>
                <a:ea typeface="Times New Roman" panose="02020603050405020304" pitchFamily="18" charset="0"/>
              </a:rPr>
              <a:t>converted to nullable Int64 so the 418 unknown outcomes stay blank instead of becoming fake values.</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New features: </a:t>
            </a:r>
            <a:r>
              <a:rPr lang="en-US" sz="2400" dirty="0">
                <a:solidFill>
                  <a:srgbClr val="000000"/>
                </a:solidFill>
                <a:effectLst/>
                <a:latin typeface="Times New Roman" panose="02020603050405020304" pitchFamily="18" charset="0"/>
                <a:ea typeface="Times New Roman" panose="02020603050405020304" pitchFamily="18" charset="0"/>
              </a:rPr>
              <a:t>Title, AgeGroup, FamilySize, IsAlone, and FareLog. The np.log1p transform cut Fare skewness from 4.37 to 0.54.</a:t>
            </a:r>
          </a:p>
        </p:txBody>
      </p:sp>
    </p:spTree>
    <p:extLst>
      <p:ext uri="{BB962C8B-B14F-4D97-AF65-F5344CB8AC3E}">
        <p14:creationId xmlns:p14="http://schemas.microsoft.com/office/powerpoint/2010/main" val="2788217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Prepare: Validate and Result</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lstStyle/>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Validation: </a:t>
            </a:r>
            <a:r>
              <a:rPr lang="en-US" sz="2400" dirty="0">
                <a:solidFill>
                  <a:srgbClr val="000000"/>
                </a:solidFill>
                <a:effectLst/>
                <a:latin typeface="Times New Roman" panose="02020603050405020304" pitchFamily="18" charset="0"/>
                <a:ea typeface="Times New Roman" panose="02020603050405020304" pitchFamily="18" charset="0"/>
              </a:rPr>
              <a:t>assertions confirm only Survived has blanks, PassengerId is unique, no rows were lost, and ages, fares, and family sizes are in valid ranges.</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Age check: </a:t>
            </a:r>
            <a:r>
              <a:rPr lang="en-US" sz="2400" dirty="0">
                <a:solidFill>
                  <a:srgbClr val="000000"/>
                </a:solidFill>
                <a:effectLst/>
                <a:latin typeface="Times New Roman" panose="02020603050405020304" pitchFamily="18" charset="0"/>
                <a:ea typeface="Times New Roman" panose="02020603050405020304" pitchFamily="18" charset="0"/>
              </a:rPr>
              <a:t>after filling, the mean moved from 29.88 to 29.27 and the median from 28 to 26, so the distribution stayed close to the original.</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Result: </a:t>
            </a:r>
            <a:r>
              <a:rPr lang="en-US" sz="2400" dirty="0">
                <a:solidFill>
                  <a:srgbClr val="000000"/>
                </a:solidFill>
                <a:effectLst/>
                <a:latin typeface="Times New Roman" panose="02020603050405020304" pitchFamily="18" charset="0"/>
                <a:ea typeface="Times New Roman" panose="02020603050405020304" pitchFamily="18" charset="0"/>
              </a:rPr>
              <a:t>1,309 passengers and 20 columns with consistent data types, saved as titanic_clean.csv.</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Ready for Step 3: </a:t>
            </a:r>
            <a:r>
              <a:rPr lang="en-US" sz="2400" dirty="0">
                <a:solidFill>
                  <a:srgbClr val="000000"/>
                </a:solidFill>
                <a:effectLst/>
                <a:latin typeface="Times New Roman" panose="02020603050405020304" pitchFamily="18" charset="0"/>
                <a:ea typeface="Times New Roman" panose="02020603050405020304" pitchFamily="18" charset="0"/>
              </a:rPr>
              <a:t>891 labeled passengers can test the hypothesis, and the 418 holdout rows are set aside.</a:t>
            </a:r>
          </a:p>
          <a:p>
            <a:pPr>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rPr>
              <a:t>Notebook and data: </a:t>
            </a:r>
            <a:r>
              <a:rPr lang="en-US" sz="2400" dirty="0">
                <a:solidFill>
                  <a:srgbClr val="000000"/>
                </a:solidFill>
                <a:effectLst/>
                <a:latin typeface="Times New Roman" panose="02020603050405020304" pitchFamily="18" charset="0"/>
                <a:ea typeface="Times New Roman" panose="02020603050405020304" pitchFamily="18" charset="0"/>
              </a:rPr>
              <a:t>https://github.com/OrangeJoe0421/ANA-500-MP1</a:t>
            </a:r>
          </a:p>
        </p:txBody>
      </p:sp>
    </p:spTree>
    <p:extLst>
      <p:ext uri="{BB962C8B-B14F-4D97-AF65-F5344CB8AC3E}">
        <p14:creationId xmlns:p14="http://schemas.microsoft.com/office/powerpoint/2010/main" val="2788217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Prepare: Revisiting the Missing Ports</a:t>
            </a:r>
          </a:p>
        </p:txBody>
      </p:sp>
      <p:sp>
        <p:nvSpPr>
          <p:cNvPr id="3" name="TextBox 2"/>
          <p:cNvSpPr txBox="1"/>
          <p:nvPr/>
        </p:nvSpPr>
        <p:spPr>
          <a:xfrm>
            <a:off x="548640" y="1508760"/>
            <a:ext cx="5120640" cy="4206240"/>
          </a:xfrm>
          <a:prstGeom prst="rect">
            <a:avLst/>
          </a:prstGeom>
          <a:noFill/>
        </p:spPr>
        <p:txBody>
          <a:bodyPr wrap="square">
            <a:spAutoFit/>
          </a:bodyPr>
          <a:lstStyle/>
          <a:p>
            <a:pPr marL="205740" indent="-205740">
              <a:spcAft>
                <a:spcPts val="800"/>
              </a:spcAft>
              <a:buFont typeface="Arial"/>
              <a:buChar char="•"/>
            </a:pPr>
            <a:r>
              <a:rPr sz="1800" b="1">
                <a:solidFill>
                  <a:srgbClr val="000000"/>
                </a:solidFill>
                <a:latin typeface="Times New Roman"/>
              </a:rPr>
              <a:t>Feedback: </a:t>
            </a:r>
            <a:r>
              <a:rPr sz="1800" b="0">
                <a:solidFill>
                  <a:srgbClr val="000000"/>
                </a:solidFill>
                <a:latin typeface="Times New Roman"/>
              </a:rPr>
              <a:t>the two passengers with no port share ticket 113572 and cabin B28. Can that support a better fill than the overall mode?</a:t>
            </a:r>
          </a:p>
          <a:p>
            <a:pPr marL="205740" indent="-205740">
              <a:spcAft>
                <a:spcPts val="800"/>
              </a:spcAft>
              <a:buFont typeface="Arial"/>
              <a:buChar char="•"/>
            </a:pPr>
            <a:r>
              <a:rPr sz="1800" b="1">
                <a:solidFill>
                  <a:srgbClr val="000000"/>
                </a:solidFill>
                <a:latin typeface="Times New Roman"/>
              </a:rPr>
              <a:t>Finding: </a:t>
            </a:r>
            <a:r>
              <a:rPr sz="1800" b="0">
                <a:solidFill>
                  <a:srgbClr val="000000"/>
                </a:solidFill>
                <a:latin typeface="Times New Roman"/>
              </a:rPr>
              <a:t>no one else has that ticket or cabin, so there is no companion whose port can be copied.</a:t>
            </a:r>
          </a:p>
          <a:p>
            <a:pPr marL="205740" indent="-205740">
              <a:spcAft>
                <a:spcPts val="800"/>
              </a:spcAft>
              <a:buFont typeface="Arial"/>
              <a:buChar char="•"/>
            </a:pPr>
            <a:r>
              <a:rPr sz="1800" b="1">
                <a:solidFill>
                  <a:srgbClr val="000000"/>
                </a:solidFill>
                <a:latin typeface="Times New Roman"/>
              </a:rPr>
              <a:t>Decision: </a:t>
            </a:r>
            <a:r>
              <a:rPr sz="1800" b="0">
                <a:solidFill>
                  <a:srgbClr val="000000"/>
                </a:solidFill>
                <a:latin typeface="Times New Roman"/>
              </a:rPr>
              <a:t>assign Southampton (S) from the ticket series, which is tied to where the ticket was bought. Same value as Micro-Project 1, now backed by passenger-specific evidence and flagged in EmbarkedWasMissing.</a:t>
            </a:r>
          </a:p>
        </p:txBody>
      </p:sp>
      <p:graphicFrame>
        <p:nvGraphicFramePr>
          <p:cNvPr id="4" name="Table 3"/>
          <p:cNvGraphicFramePr>
            <a:graphicFrameLocks noGrp="1"/>
          </p:cNvGraphicFramePr>
          <p:nvPr/>
        </p:nvGraphicFramePr>
        <p:xfrm>
          <a:off x="5989320" y="1737360"/>
          <a:ext cx="5669280" cy="283464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566928">
                <a:tc>
                  <a:txBody>
                    <a:bodyPr/>
                    <a:lstStyle/>
                    <a:p>
                      <a:r>
                        <a:rPr sz="1400" b="1">
                          <a:solidFill>
                            <a:srgbClr val="FFFFFF"/>
                          </a:solidFill>
                          <a:latin typeface="Times New Roman"/>
                        </a:rPr>
                        <a:t>Evidence</a:t>
                      </a:r>
                    </a:p>
                  </a:txBody>
                  <a:tcPr marL="73152" marR="73152" anchor="ctr">
                    <a:solidFill>
                      <a:srgbClr val="1C5CAB"/>
                    </a:solidFill>
                  </a:tcPr>
                </a:tc>
                <a:tc>
                  <a:txBody>
                    <a:bodyPr/>
                    <a:lstStyle/>
                    <a:p>
                      <a:r>
                        <a:rPr sz="1400" b="1">
                          <a:solidFill>
                            <a:srgbClr val="FFFFFF"/>
                          </a:solidFill>
                          <a:latin typeface="Times New Roman"/>
                        </a:rPr>
                        <a:t>Points to</a:t>
                      </a:r>
                    </a:p>
                  </a:txBody>
                  <a:tcPr marL="73152" marR="73152" anchor="ctr">
                    <a:solidFill>
                      <a:srgbClr val="1C5CAB"/>
                    </a:solidFill>
                  </a:tcPr>
                </a:tc>
                <a:tc>
                  <a:txBody>
                    <a:bodyPr/>
                    <a:lstStyle/>
                    <a:p>
                      <a:r>
                        <a:rPr sz="1400" b="1">
                          <a:solidFill>
                            <a:srgbClr val="FFFFFF"/>
                          </a:solidFill>
                          <a:latin typeface="Times New Roman"/>
                        </a:rPr>
                        <a:t>Strength</a:t>
                      </a:r>
                    </a:p>
                  </a:txBody>
                  <a:tcPr marL="73152" marR="73152" anchor="ctr">
                    <a:solidFill>
                      <a:srgbClr val="1C5CAB"/>
                    </a:solidFill>
                  </a:tcPr>
                </a:tc>
                <a:extLst>
                  <a:ext uri="{0D108BD9-81ED-4DB2-BD59-A6C34878D82A}">
                    <a16:rowId xmlns:a16="http://schemas.microsoft.com/office/drawing/2014/main" val="10000"/>
                  </a:ext>
                </a:extLst>
              </a:tr>
              <a:tr h="566928">
                <a:tc>
                  <a:txBody>
                    <a:bodyPr/>
                    <a:lstStyle/>
                    <a:p>
                      <a:r>
                        <a:rPr sz="1400" b="0">
                          <a:solidFill>
                            <a:srgbClr val="000000"/>
                          </a:solidFill>
                          <a:latin typeface="Times New Roman"/>
                        </a:rPr>
                        <a:t>Shared ticket or cabin</a:t>
                      </a:r>
                    </a:p>
                  </a:txBody>
                  <a:tcPr marL="73152" marR="73152" anchor="ctr">
                    <a:solidFill>
                      <a:srgbClr val="FFFFFF"/>
                    </a:solidFill>
                  </a:tcPr>
                </a:tc>
                <a:tc>
                  <a:txBody>
                    <a:bodyPr/>
                    <a:lstStyle/>
                    <a:p>
                      <a:r>
                        <a:rPr sz="1400" b="0">
                          <a:solidFill>
                            <a:srgbClr val="000000"/>
                          </a:solidFill>
                          <a:latin typeface="Times New Roman"/>
                        </a:rPr>
                        <a:t>None</a:t>
                      </a:r>
                    </a:p>
                  </a:txBody>
                  <a:tcPr marL="73152" marR="73152" anchor="ctr">
                    <a:solidFill>
                      <a:srgbClr val="FFFFFF"/>
                    </a:solidFill>
                  </a:tcPr>
                </a:tc>
                <a:tc>
                  <a:txBody>
                    <a:bodyPr/>
                    <a:lstStyle/>
                    <a:p>
                      <a:r>
                        <a:rPr sz="1400" b="0">
                          <a:solidFill>
                            <a:srgbClr val="000000"/>
                          </a:solidFill>
                          <a:latin typeface="Times New Roman"/>
                        </a:rPr>
                        <a:t>No other passengers match</a:t>
                      </a:r>
                    </a:p>
                  </a:txBody>
                  <a:tcPr marL="73152" marR="73152" anchor="ctr">
                    <a:solidFill>
                      <a:srgbClr val="FFFFFF"/>
                    </a:solidFill>
                  </a:tcPr>
                </a:tc>
                <a:extLst>
                  <a:ext uri="{0D108BD9-81ED-4DB2-BD59-A6C34878D82A}">
                    <a16:rowId xmlns:a16="http://schemas.microsoft.com/office/drawing/2014/main" val="10001"/>
                  </a:ext>
                </a:extLst>
              </a:tr>
              <a:tr h="566928">
                <a:tc>
                  <a:txBody>
                    <a:bodyPr/>
                    <a:lstStyle/>
                    <a:p>
                      <a:r>
                        <a:rPr sz="1400" b="0">
                          <a:solidFill>
                            <a:srgbClr val="000000"/>
                          </a:solidFill>
                          <a:latin typeface="Times New Roman"/>
                        </a:rPr>
                        <a:t>Other 113xxx tickets</a:t>
                      </a:r>
                    </a:p>
                  </a:txBody>
                  <a:tcPr marL="73152" marR="73152" anchor="ctr">
                    <a:solidFill>
                      <a:srgbClr val="F1F5FB"/>
                    </a:solidFill>
                  </a:tcPr>
                </a:tc>
                <a:tc>
                  <a:txBody>
                    <a:bodyPr/>
                    <a:lstStyle/>
                    <a:p>
                      <a:r>
                        <a:rPr sz="1400" b="0">
                          <a:solidFill>
                            <a:srgbClr val="000000"/>
                          </a:solidFill>
                          <a:latin typeface="Times New Roman"/>
                        </a:rPr>
                        <a:t>Southampton</a:t>
                      </a:r>
                    </a:p>
                  </a:txBody>
                  <a:tcPr marL="73152" marR="73152" anchor="ctr">
                    <a:solidFill>
                      <a:srgbClr val="F1F5FB"/>
                    </a:solidFill>
                  </a:tcPr>
                </a:tc>
                <a:tc>
                  <a:txBody>
                    <a:bodyPr/>
                    <a:lstStyle/>
                    <a:p>
                      <a:r>
                        <a:rPr sz="1400" b="0">
                          <a:solidFill>
                            <a:srgbClr val="000000"/>
                          </a:solidFill>
                          <a:latin typeface="Times New Roman"/>
                        </a:rPr>
                        <a:t>54 of 64 (84%)</a:t>
                      </a:r>
                    </a:p>
                  </a:txBody>
                  <a:tcPr marL="73152" marR="73152" anchor="ctr">
                    <a:solidFill>
                      <a:srgbClr val="F1F5FB"/>
                    </a:solidFill>
                  </a:tcPr>
                </a:tc>
                <a:extLst>
                  <a:ext uri="{0D108BD9-81ED-4DB2-BD59-A6C34878D82A}">
                    <a16:rowId xmlns:a16="http://schemas.microsoft.com/office/drawing/2014/main" val="10002"/>
                  </a:ext>
                </a:extLst>
              </a:tr>
              <a:tr h="566928">
                <a:tc>
                  <a:txBody>
                    <a:bodyPr/>
                    <a:lstStyle/>
                    <a:p>
                      <a:r>
                        <a:rPr sz="1400" b="0">
                          <a:solidFill>
                            <a:srgbClr val="000000"/>
                          </a:solidFill>
                          <a:latin typeface="Times New Roman"/>
                        </a:rPr>
                        <a:t>Fare per person ($40)</a:t>
                      </a:r>
                    </a:p>
                  </a:txBody>
                  <a:tcPr marL="73152" marR="73152" anchor="ctr">
                    <a:solidFill>
                      <a:srgbClr val="FFFFFF"/>
                    </a:solidFill>
                  </a:tcPr>
                </a:tc>
                <a:tc>
                  <a:txBody>
                    <a:bodyPr/>
                    <a:lstStyle/>
                    <a:p>
                      <a:r>
                        <a:rPr sz="1400" b="0">
                          <a:solidFill>
                            <a:srgbClr val="000000"/>
                          </a:solidFill>
                          <a:latin typeface="Times New Roman"/>
                        </a:rPr>
                        <a:t>Cherbourg</a:t>
                      </a:r>
                    </a:p>
                  </a:txBody>
                  <a:tcPr marL="73152" marR="73152" anchor="ctr">
                    <a:solidFill>
                      <a:srgbClr val="FFFFFF"/>
                    </a:solidFill>
                  </a:tcPr>
                </a:tc>
                <a:tc>
                  <a:txBody>
                    <a:bodyPr/>
                    <a:lstStyle/>
                    <a:p>
                      <a:r>
                        <a:rPr sz="1400" b="0">
                          <a:solidFill>
                            <a:srgbClr val="000000"/>
                          </a:solidFill>
                          <a:latin typeface="Times New Roman"/>
                        </a:rPr>
                        <a:t>Weak: C and S fares overlap</a:t>
                      </a:r>
                    </a:p>
                  </a:txBody>
                  <a:tcPr marL="73152" marR="73152" anchor="ctr">
                    <a:solidFill>
                      <a:srgbClr val="FFFFFF"/>
                    </a:solidFill>
                  </a:tcPr>
                </a:tc>
                <a:extLst>
                  <a:ext uri="{0D108BD9-81ED-4DB2-BD59-A6C34878D82A}">
                    <a16:rowId xmlns:a16="http://schemas.microsoft.com/office/drawing/2014/main" val="10003"/>
                  </a:ext>
                </a:extLst>
              </a:tr>
              <a:tr h="566928">
                <a:tc>
                  <a:txBody>
                    <a:bodyPr/>
                    <a:lstStyle/>
                    <a:p>
                      <a:r>
                        <a:rPr sz="1400" b="0">
                          <a:solidFill>
                            <a:srgbClr val="000000"/>
                          </a:solidFill>
                          <a:latin typeface="Times New Roman"/>
                        </a:rPr>
                        <a:t>Overall mode (Micro-Project 1)</a:t>
                      </a:r>
                    </a:p>
                  </a:txBody>
                  <a:tcPr marL="73152" marR="73152" anchor="ctr">
                    <a:solidFill>
                      <a:srgbClr val="F1F5FB"/>
                    </a:solidFill>
                  </a:tcPr>
                </a:tc>
                <a:tc>
                  <a:txBody>
                    <a:bodyPr/>
                    <a:lstStyle/>
                    <a:p>
                      <a:r>
                        <a:rPr sz="1400" b="0">
                          <a:solidFill>
                            <a:srgbClr val="000000"/>
                          </a:solidFill>
                          <a:latin typeface="Times New Roman"/>
                        </a:rPr>
                        <a:t>Southampton</a:t>
                      </a:r>
                    </a:p>
                  </a:txBody>
                  <a:tcPr marL="73152" marR="73152" anchor="ctr">
                    <a:solidFill>
                      <a:srgbClr val="F1F5FB"/>
                    </a:solidFill>
                  </a:tcPr>
                </a:tc>
                <a:tc>
                  <a:txBody>
                    <a:bodyPr/>
                    <a:lstStyle/>
                    <a:p>
                      <a:r>
                        <a:rPr sz="1400" b="0">
                          <a:solidFill>
                            <a:srgbClr val="000000"/>
                          </a:solidFill>
                          <a:latin typeface="Times New Roman"/>
                        </a:rPr>
                        <a:t>Not specific to them</a:t>
                      </a:r>
                    </a:p>
                  </a:txBody>
                  <a:tcPr marL="73152" marR="73152" anchor="ctr">
                    <a:solidFill>
                      <a:srgbClr val="F1F5F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Prepare: Building the Analysis Set</a:t>
            </a:r>
          </a:p>
        </p:txBody>
      </p:sp>
      <p:sp>
        <p:nvSpPr>
          <p:cNvPr id="3" name="TextBox 2"/>
          <p:cNvSpPr txBox="1"/>
          <p:nvPr/>
        </p:nvSpPr>
        <p:spPr>
          <a:xfrm>
            <a:off x="548640" y="1508760"/>
            <a:ext cx="5486400" cy="4297680"/>
          </a:xfrm>
          <a:prstGeom prst="rect">
            <a:avLst/>
          </a:prstGeom>
          <a:noFill/>
        </p:spPr>
        <p:txBody>
          <a:bodyPr wrap="square">
            <a:spAutoFit/>
          </a:bodyPr>
          <a:lstStyle/>
          <a:p>
            <a:pPr marL="194310" indent="-194310">
              <a:spcAft>
                <a:spcPts val="800"/>
              </a:spcAft>
              <a:buFont typeface="Arial"/>
              <a:buChar char="•"/>
            </a:pPr>
            <a:r>
              <a:rPr sz="1700" b="1">
                <a:solidFill>
                  <a:srgbClr val="000000"/>
                </a:solidFill>
                <a:latin typeface="Times New Roman"/>
              </a:rPr>
              <a:t>Analysis set: </a:t>
            </a:r>
            <a:r>
              <a:rPr sz="1700" b="0">
                <a:solidFill>
                  <a:srgbClr val="000000"/>
                </a:solidFill>
                <a:latin typeface="Times New Roman"/>
              </a:rPr>
              <a:t>the 891 passengers with a known outcome. The 418 holdout rows stay aside.</a:t>
            </a:r>
          </a:p>
          <a:p>
            <a:pPr marL="194310" indent="-194310">
              <a:spcAft>
                <a:spcPts val="800"/>
              </a:spcAft>
              <a:buFont typeface="Arial"/>
              <a:buChar char="•"/>
            </a:pPr>
            <a:r>
              <a:rPr sz="1700" b="1">
                <a:solidFill>
                  <a:srgbClr val="000000"/>
                </a:solidFill>
                <a:latin typeface="Times New Roman"/>
              </a:rPr>
              <a:t>Baseline: </a:t>
            </a:r>
            <a:r>
              <a:rPr sz="1700" b="0">
                <a:solidFill>
                  <a:srgbClr val="000000"/>
                </a:solidFill>
                <a:latin typeface="Times New Roman"/>
              </a:rPr>
              <a:t>549 died (61.6%) and 342 survived (38.4%). Later charts compare each group to 38.4%.</a:t>
            </a:r>
          </a:p>
          <a:p>
            <a:pPr marL="194310" indent="-194310">
              <a:spcAft>
                <a:spcPts val="800"/>
              </a:spcAft>
              <a:buFont typeface="Arial"/>
              <a:buChar char="•"/>
            </a:pPr>
            <a:r>
              <a:rPr sz="1700" b="1">
                <a:solidFill>
                  <a:srgbClr val="000000"/>
                </a:solidFill>
                <a:latin typeface="Times New Roman"/>
              </a:rPr>
              <a:t>Readable labels: </a:t>
            </a:r>
            <a:r>
              <a:rPr sz="1700" b="0">
                <a:solidFill>
                  <a:srgbClr val="000000"/>
                </a:solidFill>
                <a:latin typeface="Times New Roman"/>
              </a:rPr>
              <a:t>Outcome, Class, Port, and SexLabel columns for chart axes; coded columns kept for calculations.</a:t>
            </a:r>
          </a:p>
          <a:p>
            <a:pPr marL="194310" indent="-194310">
              <a:spcAft>
                <a:spcPts val="800"/>
              </a:spcAft>
              <a:buFont typeface="Arial"/>
              <a:buChar char="•"/>
            </a:pPr>
            <a:r>
              <a:rPr sz="1700" b="1">
                <a:solidFill>
                  <a:srgbClr val="000000"/>
                </a:solidFill>
                <a:latin typeface="Times New Roman"/>
              </a:rPr>
              <a:t>Consistent style: </a:t>
            </a:r>
            <a:r>
              <a:rPr sz="1700" b="0">
                <a:solidFill>
                  <a:srgbClr val="000000"/>
                </a:solidFill>
                <a:latin typeface="Times New Roman"/>
              </a:rPr>
              <a:t>one color palette across every chart, with values printed on bars and group sizes (n) where they matter.</a:t>
            </a:r>
          </a:p>
          <a:p>
            <a:pPr marL="194310" indent="-194310">
              <a:spcAft>
                <a:spcPts val="800"/>
              </a:spcAft>
              <a:buFont typeface="Arial"/>
              <a:buChar char="•"/>
            </a:pPr>
            <a:r>
              <a:rPr sz="1700" b="1">
                <a:solidFill>
                  <a:srgbClr val="000000"/>
                </a:solidFill>
                <a:latin typeface="Times New Roman"/>
              </a:rPr>
              <a:t>Age caution: </a:t>
            </a:r>
            <a:r>
              <a:rPr sz="1700" b="0">
                <a:solidFill>
                  <a:srgbClr val="000000"/>
                </a:solidFill>
                <a:latin typeface="Times New Roman"/>
              </a:rPr>
              <a:t>177 ages were imputed in Micro-Project 1, so age distributions use only the 714 recorded ages.</a:t>
            </a:r>
          </a:p>
        </p:txBody>
      </p:sp>
      <p:pic>
        <p:nvPicPr>
          <p:cNvPr id="4" name="Picture 3" descr="01_overall.png"/>
          <p:cNvPicPr>
            <a:picLocks noChangeAspect="1"/>
          </p:cNvPicPr>
          <p:nvPr/>
        </p:nvPicPr>
        <p:blipFill>
          <a:blip r:embed="rId2"/>
          <a:stretch>
            <a:fillRect/>
          </a:stretch>
        </p:blipFill>
        <p:spPr>
          <a:xfrm>
            <a:off x="6355080" y="1600200"/>
            <a:ext cx="5303520" cy="346980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Prepare: Features, Encoding, and Split</a:t>
            </a:r>
          </a:p>
        </p:txBody>
      </p:sp>
      <p:graphicFrame>
        <p:nvGraphicFramePr>
          <p:cNvPr id="3" name="Table 2"/>
          <p:cNvGraphicFramePr>
            <a:graphicFrameLocks noGrp="1"/>
          </p:cNvGraphicFramePr>
          <p:nvPr/>
        </p:nvGraphicFramePr>
        <p:xfrm>
          <a:off x="548640" y="1600200"/>
          <a:ext cx="5760720" cy="25146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502920">
                <a:tc>
                  <a:txBody>
                    <a:bodyPr/>
                    <a:lstStyle/>
                    <a:p>
                      <a:r>
                        <a:rPr sz="1400" b="1">
                          <a:solidFill>
                            <a:srgbClr val="FFFFFF"/>
                          </a:solidFill>
                          <a:latin typeface="Times New Roman"/>
                        </a:rPr>
                        <a:t>Feature</a:t>
                      </a:r>
                    </a:p>
                  </a:txBody>
                  <a:tcPr marL="73152" marR="73152" anchor="ctr">
                    <a:solidFill>
                      <a:srgbClr val="1C5CAB"/>
                    </a:solidFill>
                  </a:tcPr>
                </a:tc>
                <a:tc>
                  <a:txBody>
                    <a:bodyPr/>
                    <a:lstStyle/>
                    <a:p>
                      <a:r>
                        <a:rPr sz="1400" b="1">
                          <a:solidFill>
                            <a:srgbClr val="FFFFFF"/>
                          </a:solidFill>
                          <a:latin typeface="Times New Roman"/>
                        </a:rPr>
                        <a:t>Type</a:t>
                      </a:r>
                    </a:p>
                  </a:txBody>
                  <a:tcPr marL="73152" marR="73152" anchor="ctr">
                    <a:solidFill>
                      <a:srgbClr val="1C5CAB"/>
                    </a:solidFill>
                  </a:tcPr>
                </a:tc>
                <a:tc>
                  <a:txBody>
                    <a:bodyPr/>
                    <a:lstStyle/>
                    <a:p>
                      <a:r>
                        <a:rPr sz="1400" b="1">
                          <a:solidFill>
                            <a:srgbClr val="FFFFFF"/>
                          </a:solidFill>
                          <a:latin typeface="Times New Roman"/>
                        </a:rPr>
                        <a:t>Preparation</a:t>
                      </a:r>
                    </a:p>
                  </a:txBody>
                  <a:tcPr marL="73152" marR="73152" anchor="ctr">
                    <a:solidFill>
                      <a:srgbClr val="1C5CAB"/>
                    </a:solidFill>
                  </a:tcPr>
                </a:tc>
                <a:extLst>
                  <a:ext uri="{0D108BD9-81ED-4DB2-BD59-A6C34878D82A}">
                    <a16:rowId xmlns:a16="http://schemas.microsoft.com/office/drawing/2014/main" val="10000"/>
                  </a:ext>
                </a:extLst>
              </a:tr>
              <a:tr h="502920">
                <a:tc>
                  <a:txBody>
                    <a:bodyPr/>
                    <a:lstStyle/>
                    <a:p>
                      <a:r>
                        <a:rPr sz="1400" b="0">
                          <a:solidFill>
                            <a:srgbClr val="000000"/>
                          </a:solidFill>
                          <a:latin typeface="Times New Roman"/>
                        </a:rPr>
                        <a:t>Age, FamilySize, FareLog</a:t>
                      </a:r>
                    </a:p>
                  </a:txBody>
                  <a:tcPr marL="73152" marR="73152" anchor="ctr">
                    <a:solidFill>
                      <a:srgbClr val="FFFFFF"/>
                    </a:solidFill>
                  </a:tcPr>
                </a:tc>
                <a:tc>
                  <a:txBody>
                    <a:bodyPr/>
                    <a:lstStyle/>
                    <a:p>
                      <a:r>
                        <a:rPr sz="1400" b="0">
                          <a:solidFill>
                            <a:srgbClr val="000000"/>
                          </a:solidFill>
                          <a:latin typeface="Times New Roman"/>
                        </a:rPr>
                        <a:t>Numeric</a:t>
                      </a:r>
                    </a:p>
                  </a:txBody>
                  <a:tcPr marL="73152" marR="73152" anchor="ctr">
                    <a:solidFill>
                      <a:srgbClr val="FFFFFF"/>
                    </a:solidFill>
                  </a:tcPr>
                </a:tc>
                <a:tc>
                  <a:txBody>
                    <a:bodyPr/>
                    <a:lstStyle/>
                    <a:p>
                      <a:r>
                        <a:rPr sz="1400" b="0">
                          <a:solidFill>
                            <a:srgbClr val="000000"/>
                          </a:solidFill>
                          <a:latin typeface="Times New Roman"/>
                        </a:rPr>
                        <a:t>Standardized (mean 0, SD 1)</a:t>
                      </a:r>
                    </a:p>
                  </a:txBody>
                  <a:tcPr marL="73152" marR="73152" anchor="ctr">
                    <a:solidFill>
                      <a:srgbClr val="FFFFFF"/>
                    </a:solidFill>
                  </a:tcPr>
                </a:tc>
                <a:extLst>
                  <a:ext uri="{0D108BD9-81ED-4DB2-BD59-A6C34878D82A}">
                    <a16:rowId xmlns:a16="http://schemas.microsoft.com/office/drawing/2014/main" val="10001"/>
                  </a:ext>
                </a:extLst>
              </a:tr>
              <a:tr h="502920">
                <a:tc>
                  <a:txBody>
                    <a:bodyPr/>
                    <a:lstStyle/>
                    <a:p>
                      <a:r>
                        <a:rPr sz="1400" b="0">
                          <a:solidFill>
                            <a:srgbClr val="000000"/>
                          </a:solidFill>
                          <a:latin typeface="Times New Roman"/>
                        </a:rPr>
                        <a:t>Pclass, Sex, Embarked</a:t>
                      </a:r>
                    </a:p>
                  </a:txBody>
                  <a:tcPr marL="73152" marR="73152" anchor="ctr">
                    <a:solidFill>
                      <a:srgbClr val="F1F5FB"/>
                    </a:solidFill>
                  </a:tcPr>
                </a:tc>
                <a:tc>
                  <a:txBody>
                    <a:bodyPr/>
                    <a:lstStyle/>
                    <a:p>
                      <a:r>
                        <a:rPr sz="1400" b="0">
                          <a:solidFill>
                            <a:srgbClr val="000000"/>
                          </a:solidFill>
                          <a:latin typeface="Times New Roman"/>
                        </a:rPr>
                        <a:t>Category</a:t>
                      </a:r>
                    </a:p>
                  </a:txBody>
                  <a:tcPr marL="73152" marR="73152" anchor="ctr">
                    <a:solidFill>
                      <a:srgbClr val="F1F5FB"/>
                    </a:solidFill>
                  </a:tcPr>
                </a:tc>
                <a:tc>
                  <a:txBody>
                    <a:bodyPr/>
                    <a:lstStyle/>
                    <a:p>
                      <a:r>
                        <a:rPr sz="1400" b="0">
                          <a:solidFill>
                            <a:srgbClr val="000000"/>
                          </a:solidFill>
                          <a:latin typeface="Times New Roman"/>
                        </a:rPr>
                        <a:t>One-hot encoded</a:t>
                      </a:r>
                    </a:p>
                  </a:txBody>
                  <a:tcPr marL="73152" marR="73152" anchor="ctr">
                    <a:solidFill>
                      <a:srgbClr val="F1F5FB"/>
                    </a:solidFill>
                  </a:tcPr>
                </a:tc>
                <a:extLst>
                  <a:ext uri="{0D108BD9-81ED-4DB2-BD59-A6C34878D82A}">
                    <a16:rowId xmlns:a16="http://schemas.microsoft.com/office/drawing/2014/main" val="10002"/>
                  </a:ext>
                </a:extLst>
              </a:tr>
              <a:tr h="502920">
                <a:tc>
                  <a:txBody>
                    <a:bodyPr/>
                    <a:lstStyle/>
                    <a:p>
                      <a:r>
                        <a:rPr sz="1400" b="0">
                          <a:solidFill>
                            <a:srgbClr val="000000"/>
                          </a:solidFill>
                          <a:latin typeface="Times New Roman"/>
                        </a:rPr>
                        <a:t>HasCabin, AgeWasMissing</a:t>
                      </a:r>
                    </a:p>
                  </a:txBody>
                  <a:tcPr marL="73152" marR="73152" anchor="ctr">
                    <a:solidFill>
                      <a:srgbClr val="FFFFFF"/>
                    </a:solidFill>
                  </a:tcPr>
                </a:tc>
                <a:tc>
                  <a:txBody>
                    <a:bodyPr/>
                    <a:lstStyle/>
                    <a:p>
                      <a:r>
                        <a:rPr sz="1400" b="0">
                          <a:solidFill>
                            <a:srgbClr val="000000"/>
                          </a:solidFill>
                          <a:latin typeface="Times New Roman"/>
                        </a:rPr>
                        <a:t>Flag</a:t>
                      </a:r>
                    </a:p>
                  </a:txBody>
                  <a:tcPr marL="73152" marR="73152" anchor="ctr">
                    <a:solidFill>
                      <a:srgbClr val="FFFFFF"/>
                    </a:solidFill>
                  </a:tcPr>
                </a:tc>
                <a:tc>
                  <a:txBody>
                    <a:bodyPr/>
                    <a:lstStyle/>
                    <a:p>
                      <a:r>
                        <a:rPr sz="1400" b="0">
                          <a:solidFill>
                            <a:srgbClr val="000000"/>
                          </a:solidFill>
                          <a:latin typeface="Times New Roman"/>
                        </a:rPr>
                        <a:t>Used as 0/1</a:t>
                      </a:r>
                    </a:p>
                  </a:txBody>
                  <a:tcPr marL="73152" marR="73152" anchor="ctr">
                    <a:solidFill>
                      <a:srgbClr val="FFFFFF"/>
                    </a:solidFill>
                  </a:tcPr>
                </a:tc>
                <a:extLst>
                  <a:ext uri="{0D108BD9-81ED-4DB2-BD59-A6C34878D82A}">
                    <a16:rowId xmlns:a16="http://schemas.microsoft.com/office/drawing/2014/main" val="10003"/>
                  </a:ext>
                </a:extLst>
              </a:tr>
              <a:tr h="502920">
                <a:tc>
                  <a:txBody>
                    <a:bodyPr/>
                    <a:lstStyle/>
                    <a:p>
                      <a:r>
                        <a:rPr sz="1400" b="0">
                          <a:solidFill>
                            <a:srgbClr val="000000"/>
                          </a:solidFill>
                          <a:latin typeface="Times New Roman"/>
                        </a:rPr>
                        <a:t>Title</a:t>
                      </a:r>
                    </a:p>
                  </a:txBody>
                  <a:tcPr marL="73152" marR="73152" anchor="ctr">
                    <a:solidFill>
                      <a:srgbClr val="F1F5FB"/>
                    </a:solidFill>
                  </a:tcPr>
                </a:tc>
                <a:tc>
                  <a:txBody>
                    <a:bodyPr/>
                    <a:lstStyle/>
                    <a:p>
                      <a:r>
                        <a:rPr sz="1400" b="0">
                          <a:solidFill>
                            <a:srgbClr val="000000"/>
                          </a:solidFill>
                          <a:latin typeface="Times New Roman"/>
                        </a:rPr>
                        <a:t>Category</a:t>
                      </a:r>
                    </a:p>
                  </a:txBody>
                  <a:tcPr marL="73152" marR="73152" anchor="ctr">
                    <a:solidFill>
                      <a:srgbClr val="F1F5FB"/>
                    </a:solidFill>
                  </a:tcPr>
                </a:tc>
                <a:tc>
                  <a:txBody>
                    <a:bodyPr/>
                    <a:lstStyle/>
                    <a:p>
                      <a:r>
                        <a:rPr sz="1400" b="0">
                          <a:solidFill>
                            <a:srgbClr val="000000"/>
                          </a:solidFill>
                          <a:latin typeface="Times New Roman"/>
                        </a:rPr>
                        <a:t>Tested as an iteration</a:t>
                      </a:r>
                    </a:p>
                  </a:txBody>
                  <a:tcPr marL="73152" marR="73152" anchor="ctr">
                    <a:solidFill>
                      <a:srgbClr val="F1F5FB"/>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6629400" y="1554480"/>
            <a:ext cx="5120640" cy="4480560"/>
          </a:xfrm>
          <a:prstGeom prst="rect">
            <a:avLst/>
          </a:prstGeom>
          <a:noFill/>
        </p:spPr>
        <p:txBody>
          <a:bodyPr wrap="square">
            <a:spAutoFit/>
          </a:bodyPr>
          <a:lstStyle/>
          <a:p>
            <a:pPr marL="182880" indent="-182880">
              <a:spcAft>
                <a:spcPts val="800"/>
              </a:spcAft>
              <a:buFont typeface="Arial"/>
              <a:buChar char="•"/>
            </a:pPr>
            <a:r>
              <a:rPr sz="1600" b="1">
                <a:solidFill>
                  <a:srgbClr val="000000"/>
                </a:solidFill>
                <a:latin typeface="Times New Roman"/>
              </a:rPr>
              <a:t>Pipeline: </a:t>
            </a:r>
            <a:r>
              <a:rPr sz="1600" b="0">
                <a:solidFill>
                  <a:srgbClr val="000000"/>
                </a:solidFill>
                <a:latin typeface="Times New Roman"/>
              </a:rPr>
              <a:t>scaling and encoding sit inside each model's pipeline, so they learn only from training data.</a:t>
            </a:r>
          </a:p>
          <a:p>
            <a:pPr marL="182880" indent="-182880">
              <a:spcAft>
                <a:spcPts val="800"/>
              </a:spcAft>
              <a:buFont typeface="Arial"/>
              <a:buChar char="•"/>
            </a:pPr>
            <a:r>
              <a:rPr sz="1600" b="1">
                <a:solidFill>
                  <a:srgbClr val="000000"/>
                </a:solidFill>
                <a:latin typeface="Times New Roman"/>
              </a:rPr>
              <a:t>Split: </a:t>
            </a:r>
            <a:r>
              <a:rPr sz="1600" b="0">
                <a:solidFill>
                  <a:srgbClr val="000000"/>
                </a:solidFill>
                <a:latin typeface="Times New Roman"/>
              </a:rPr>
              <a:t>80% training (712) and 20% test (179), stratified so both keep the 38% survival rate.</a:t>
            </a:r>
          </a:p>
          <a:p>
            <a:pPr marL="182880" indent="-182880">
              <a:spcAft>
                <a:spcPts val="800"/>
              </a:spcAft>
              <a:buFont typeface="Arial"/>
              <a:buChar char="•"/>
            </a:pPr>
            <a:r>
              <a:rPr sz="1600" b="1">
                <a:solidFill>
                  <a:srgbClr val="000000"/>
                </a:solidFill>
                <a:latin typeface="Times New Roman"/>
              </a:rPr>
              <a:t>Tuning: </a:t>
            </a:r>
            <a:r>
              <a:rPr sz="1600" b="0">
                <a:solidFill>
                  <a:srgbClr val="000000"/>
                </a:solidFill>
                <a:latin typeface="Times New Roman"/>
              </a:rPr>
              <a:t>5-fold cross-validation on the training set; the test set is used once at the end.</a:t>
            </a:r>
          </a:p>
          <a:p>
            <a:pPr marL="182880" indent="-182880">
              <a:spcAft>
                <a:spcPts val="800"/>
              </a:spcAft>
              <a:buFont typeface="Arial"/>
              <a:buChar char="•"/>
            </a:pPr>
            <a:r>
              <a:rPr sz="1600" b="1">
                <a:solidFill>
                  <a:srgbClr val="000000"/>
                </a:solidFill>
                <a:latin typeface="Times New Roman"/>
              </a:rPr>
              <a:t>Fare split: </a:t>
            </a:r>
            <a:r>
              <a:rPr sz="1600" b="0">
                <a:solidFill>
                  <a:srgbClr val="000000"/>
                </a:solidFill>
                <a:latin typeface="Times New Roman"/>
              </a:rPr>
              <a:t>grouped by ticket so passengers sharing a fare never appear in both training and test.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Visual Analysis Techniques</a:t>
            </a:r>
          </a:p>
        </p:txBody>
      </p:sp>
      <p:graphicFrame>
        <p:nvGraphicFramePr>
          <p:cNvPr id="3" name="Table 2"/>
          <p:cNvGraphicFramePr>
            <a:graphicFrameLocks noGrp="1"/>
          </p:cNvGraphicFramePr>
          <p:nvPr/>
        </p:nvGraphicFramePr>
        <p:xfrm>
          <a:off x="777240" y="1600200"/>
          <a:ext cx="10607040" cy="3968496"/>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566928">
                <a:tc>
                  <a:txBody>
                    <a:bodyPr/>
                    <a:lstStyle/>
                    <a:p>
                      <a:r>
                        <a:rPr sz="1500" b="1">
                          <a:solidFill>
                            <a:srgbClr val="FFFFFF"/>
                          </a:solidFill>
                          <a:latin typeface="Times New Roman"/>
                        </a:rPr>
                        <a:t>Technique</a:t>
                      </a:r>
                    </a:p>
                  </a:txBody>
                  <a:tcPr marL="73152" marR="73152" anchor="ctr">
                    <a:solidFill>
                      <a:srgbClr val="1C5CAB"/>
                    </a:solidFill>
                  </a:tcPr>
                </a:tc>
                <a:tc>
                  <a:txBody>
                    <a:bodyPr/>
                    <a:lstStyle/>
                    <a:p>
                      <a:r>
                        <a:rPr sz="1500" b="1">
                          <a:solidFill>
                            <a:srgbClr val="FFFFFF"/>
                          </a:solidFill>
                          <a:latin typeface="Times New Roman"/>
                        </a:rPr>
                        <a:t>Question it answers</a:t>
                      </a:r>
                    </a:p>
                  </a:txBody>
                  <a:tcPr marL="73152" marR="73152" anchor="ctr">
                    <a:solidFill>
                      <a:srgbClr val="1C5CAB"/>
                    </a:solidFill>
                  </a:tcPr>
                </a:tc>
                <a:tc>
                  <a:txBody>
                    <a:bodyPr/>
                    <a:lstStyle/>
                    <a:p>
                      <a:r>
                        <a:rPr sz="1500" b="1">
                          <a:solidFill>
                            <a:srgbClr val="FFFFFF"/>
                          </a:solidFill>
                          <a:latin typeface="Times New Roman"/>
                        </a:rPr>
                        <a:t>Library</a:t>
                      </a:r>
                    </a:p>
                  </a:txBody>
                  <a:tcPr marL="73152" marR="73152" anchor="ctr">
                    <a:solidFill>
                      <a:srgbClr val="1C5CAB"/>
                    </a:solidFill>
                  </a:tcPr>
                </a:tc>
                <a:extLst>
                  <a:ext uri="{0D108BD9-81ED-4DB2-BD59-A6C34878D82A}">
                    <a16:rowId xmlns:a16="http://schemas.microsoft.com/office/drawing/2014/main" val="10000"/>
                  </a:ext>
                </a:extLst>
              </a:tr>
              <a:tr h="566928">
                <a:tc>
                  <a:txBody>
                    <a:bodyPr/>
                    <a:lstStyle/>
                    <a:p>
                      <a:r>
                        <a:rPr sz="1500" b="0">
                          <a:solidFill>
                            <a:srgbClr val="000000"/>
                          </a:solidFill>
                          <a:latin typeface="Times New Roman"/>
                        </a:rPr>
                        <a:t>Grouped survival rates (bar charts)</a:t>
                      </a:r>
                    </a:p>
                  </a:txBody>
                  <a:tcPr marL="73152" marR="73152" anchor="ctr">
                    <a:solidFill>
                      <a:srgbClr val="FFFFFF"/>
                    </a:solidFill>
                  </a:tcPr>
                </a:tc>
                <a:tc>
                  <a:txBody>
                    <a:bodyPr/>
                    <a:lstStyle/>
                    <a:p>
                      <a:r>
                        <a:rPr sz="1500" b="0">
                          <a:solidFill>
                            <a:srgbClr val="000000"/>
                          </a:solidFill>
                          <a:latin typeface="Times New Roman"/>
                        </a:rPr>
                        <a:t>Which groups survived above or below the 38.4% baseline?</a:t>
                      </a:r>
                    </a:p>
                  </a:txBody>
                  <a:tcPr marL="73152" marR="73152" anchor="ctr">
                    <a:solidFill>
                      <a:srgbClr val="FFFFFF"/>
                    </a:solidFill>
                  </a:tcPr>
                </a:tc>
                <a:tc>
                  <a:txBody>
                    <a:bodyPr/>
                    <a:lstStyle/>
                    <a:p>
                      <a:r>
                        <a:rPr sz="1500" b="0">
                          <a:solidFill>
                            <a:srgbClr val="000000"/>
                          </a:solidFill>
                          <a:latin typeface="Times New Roman"/>
                        </a:rPr>
                        <a:t>Matplotlib, Seaborn</a:t>
                      </a:r>
                    </a:p>
                  </a:txBody>
                  <a:tcPr marL="73152" marR="73152" anchor="ctr">
                    <a:solidFill>
                      <a:srgbClr val="FFFFFF"/>
                    </a:solidFill>
                  </a:tcPr>
                </a:tc>
                <a:extLst>
                  <a:ext uri="{0D108BD9-81ED-4DB2-BD59-A6C34878D82A}">
                    <a16:rowId xmlns:a16="http://schemas.microsoft.com/office/drawing/2014/main" val="10001"/>
                  </a:ext>
                </a:extLst>
              </a:tr>
              <a:tr h="566928">
                <a:tc>
                  <a:txBody>
                    <a:bodyPr/>
                    <a:lstStyle/>
                    <a:p>
                      <a:r>
                        <a:rPr sz="1500" b="0">
                          <a:solidFill>
                            <a:srgbClr val="000000"/>
                          </a:solidFill>
                          <a:latin typeface="Times New Roman"/>
                        </a:rPr>
                        <a:t>Two-way comparison (heatmap)</a:t>
                      </a:r>
                    </a:p>
                  </a:txBody>
                  <a:tcPr marL="73152" marR="73152" anchor="ctr">
                    <a:solidFill>
                      <a:srgbClr val="F1F5FB"/>
                    </a:solidFill>
                  </a:tcPr>
                </a:tc>
                <a:tc>
                  <a:txBody>
                    <a:bodyPr/>
                    <a:lstStyle/>
                    <a:p>
                      <a:r>
                        <a:rPr sz="1500" b="0">
                          <a:solidFill>
                            <a:srgbClr val="000000"/>
                          </a:solidFill>
                          <a:latin typeface="Times New Roman"/>
                        </a:rPr>
                        <a:t>Does the sex gap hold inside every class?</a:t>
                      </a:r>
                    </a:p>
                  </a:txBody>
                  <a:tcPr marL="73152" marR="73152" anchor="ctr">
                    <a:solidFill>
                      <a:srgbClr val="F1F5FB"/>
                    </a:solidFill>
                  </a:tcPr>
                </a:tc>
                <a:tc>
                  <a:txBody>
                    <a:bodyPr/>
                    <a:lstStyle/>
                    <a:p>
                      <a:r>
                        <a:rPr sz="1500" b="0">
                          <a:solidFill>
                            <a:srgbClr val="000000"/>
                          </a:solidFill>
                          <a:latin typeface="Times New Roman"/>
                        </a:rPr>
                        <a:t>Seaborn</a:t>
                      </a:r>
                    </a:p>
                  </a:txBody>
                  <a:tcPr marL="73152" marR="73152" anchor="ctr">
                    <a:solidFill>
                      <a:srgbClr val="F1F5FB"/>
                    </a:solidFill>
                  </a:tcPr>
                </a:tc>
                <a:extLst>
                  <a:ext uri="{0D108BD9-81ED-4DB2-BD59-A6C34878D82A}">
                    <a16:rowId xmlns:a16="http://schemas.microsoft.com/office/drawing/2014/main" val="10002"/>
                  </a:ext>
                </a:extLst>
              </a:tr>
              <a:tr h="566928">
                <a:tc>
                  <a:txBody>
                    <a:bodyPr/>
                    <a:lstStyle/>
                    <a:p>
                      <a:r>
                        <a:rPr sz="1500" b="0">
                          <a:solidFill>
                            <a:srgbClr val="000000"/>
                          </a:solidFill>
                          <a:latin typeface="Times New Roman"/>
                        </a:rPr>
                        <a:t>Distributions (histograms, box plots)</a:t>
                      </a:r>
                    </a:p>
                  </a:txBody>
                  <a:tcPr marL="73152" marR="73152" anchor="ctr">
                    <a:solidFill>
                      <a:srgbClr val="FFFFFF"/>
                    </a:solidFill>
                  </a:tcPr>
                </a:tc>
                <a:tc>
                  <a:txBody>
                    <a:bodyPr/>
                    <a:lstStyle/>
                    <a:p>
                      <a:r>
                        <a:rPr sz="1500" b="0">
                          <a:solidFill>
                            <a:srgbClr val="000000"/>
                          </a:solidFill>
                          <a:latin typeface="Times New Roman"/>
                        </a:rPr>
                        <a:t>How do age and fare differ between survivors and victims?</a:t>
                      </a:r>
                    </a:p>
                  </a:txBody>
                  <a:tcPr marL="73152" marR="73152" anchor="ctr">
                    <a:solidFill>
                      <a:srgbClr val="FFFFFF"/>
                    </a:solidFill>
                  </a:tcPr>
                </a:tc>
                <a:tc>
                  <a:txBody>
                    <a:bodyPr/>
                    <a:lstStyle/>
                    <a:p>
                      <a:r>
                        <a:rPr sz="1500" b="0">
                          <a:solidFill>
                            <a:srgbClr val="000000"/>
                          </a:solidFill>
                          <a:latin typeface="Times New Roman"/>
                        </a:rPr>
                        <a:t>Seaborn</a:t>
                      </a:r>
                    </a:p>
                  </a:txBody>
                  <a:tcPr marL="73152" marR="73152" anchor="ctr">
                    <a:solidFill>
                      <a:srgbClr val="FFFFFF"/>
                    </a:solidFill>
                  </a:tcPr>
                </a:tc>
                <a:extLst>
                  <a:ext uri="{0D108BD9-81ED-4DB2-BD59-A6C34878D82A}">
                    <a16:rowId xmlns:a16="http://schemas.microsoft.com/office/drawing/2014/main" val="10003"/>
                  </a:ext>
                </a:extLst>
              </a:tr>
              <a:tr h="566928">
                <a:tc>
                  <a:txBody>
                    <a:bodyPr/>
                    <a:lstStyle/>
                    <a:p>
                      <a:r>
                        <a:rPr sz="1500" b="0">
                          <a:solidFill>
                            <a:srgbClr val="000000"/>
                          </a:solidFill>
                          <a:latin typeface="Times New Roman"/>
                        </a:rPr>
                        <a:t>100% stacked bars</a:t>
                      </a:r>
                    </a:p>
                  </a:txBody>
                  <a:tcPr marL="73152" marR="73152" anchor="ctr">
                    <a:solidFill>
                      <a:srgbClr val="F1F5FB"/>
                    </a:solidFill>
                  </a:tcPr>
                </a:tc>
                <a:tc>
                  <a:txBody>
                    <a:bodyPr/>
                    <a:lstStyle/>
                    <a:p>
                      <a:r>
                        <a:rPr sz="1500" b="0">
                          <a:solidFill>
                            <a:srgbClr val="000000"/>
                          </a:solidFill>
                          <a:latin typeface="Times New Roman"/>
                        </a:rPr>
                        <a:t>Is a variable (port) really a stand-in for class?</a:t>
                      </a:r>
                    </a:p>
                  </a:txBody>
                  <a:tcPr marL="73152" marR="73152" anchor="ctr">
                    <a:solidFill>
                      <a:srgbClr val="F1F5FB"/>
                    </a:solidFill>
                  </a:tcPr>
                </a:tc>
                <a:tc>
                  <a:txBody>
                    <a:bodyPr/>
                    <a:lstStyle/>
                    <a:p>
                      <a:r>
                        <a:rPr sz="1500" b="0">
                          <a:solidFill>
                            <a:srgbClr val="000000"/>
                          </a:solidFill>
                          <a:latin typeface="Times New Roman"/>
                        </a:rPr>
                        <a:t>Matplotlib</a:t>
                      </a:r>
                    </a:p>
                  </a:txBody>
                  <a:tcPr marL="73152" marR="73152" anchor="ctr">
                    <a:solidFill>
                      <a:srgbClr val="F1F5FB"/>
                    </a:solidFill>
                  </a:tcPr>
                </a:tc>
                <a:extLst>
                  <a:ext uri="{0D108BD9-81ED-4DB2-BD59-A6C34878D82A}">
                    <a16:rowId xmlns:a16="http://schemas.microsoft.com/office/drawing/2014/main" val="10004"/>
                  </a:ext>
                </a:extLst>
              </a:tr>
              <a:tr h="566928">
                <a:tc>
                  <a:txBody>
                    <a:bodyPr/>
                    <a:lstStyle/>
                    <a:p>
                      <a:r>
                        <a:rPr sz="1500" b="0">
                          <a:solidFill>
                            <a:srgbClr val="000000"/>
                          </a:solidFill>
                          <a:latin typeface="Times New Roman"/>
                        </a:rPr>
                        <a:t>Chi-square test and Cramer's V</a:t>
                      </a:r>
                    </a:p>
                  </a:txBody>
                  <a:tcPr marL="73152" marR="73152" anchor="ctr">
                    <a:solidFill>
                      <a:srgbClr val="FFFFFF"/>
                    </a:solidFill>
                  </a:tcPr>
                </a:tc>
                <a:tc>
                  <a:txBody>
                    <a:bodyPr/>
                    <a:lstStyle/>
                    <a:p>
                      <a:r>
                        <a:rPr sz="1500" b="0">
                          <a:solidFill>
                            <a:srgbClr val="000000"/>
                          </a:solidFill>
                          <a:latin typeface="Times New Roman"/>
                        </a:rPr>
                        <a:t>Is each association statistically significant, and how strong is it?</a:t>
                      </a:r>
                    </a:p>
                  </a:txBody>
                  <a:tcPr marL="73152" marR="73152" anchor="ctr">
                    <a:solidFill>
                      <a:srgbClr val="FFFFFF"/>
                    </a:solidFill>
                  </a:tcPr>
                </a:tc>
                <a:tc>
                  <a:txBody>
                    <a:bodyPr/>
                    <a:lstStyle/>
                    <a:p>
                      <a:r>
                        <a:rPr sz="1500" b="0">
                          <a:solidFill>
                            <a:srgbClr val="000000"/>
                          </a:solidFill>
                          <a:latin typeface="Times New Roman"/>
                        </a:rPr>
                        <a:t>SciPy</a:t>
                      </a:r>
                    </a:p>
                  </a:txBody>
                  <a:tcPr marL="73152" marR="73152" anchor="ctr">
                    <a:solidFill>
                      <a:srgbClr val="FFFFFF"/>
                    </a:solidFill>
                  </a:tcPr>
                </a:tc>
                <a:extLst>
                  <a:ext uri="{0D108BD9-81ED-4DB2-BD59-A6C34878D82A}">
                    <a16:rowId xmlns:a16="http://schemas.microsoft.com/office/drawing/2014/main" val="10005"/>
                  </a:ext>
                </a:extLst>
              </a:tr>
              <a:tr h="566928">
                <a:tc>
                  <a:txBody>
                    <a:bodyPr/>
                    <a:lstStyle/>
                    <a:p>
                      <a:r>
                        <a:rPr sz="1500" b="0">
                          <a:solidFill>
                            <a:srgbClr val="000000"/>
                          </a:solidFill>
                          <a:latin typeface="Times New Roman"/>
                        </a:rPr>
                        <a:t>Correlation matrix (heatmap)</a:t>
                      </a:r>
                    </a:p>
                  </a:txBody>
                  <a:tcPr marL="73152" marR="73152" anchor="ctr">
                    <a:solidFill>
                      <a:srgbClr val="F1F5FB"/>
                    </a:solidFill>
                  </a:tcPr>
                </a:tc>
                <a:tc>
                  <a:txBody>
                    <a:bodyPr/>
                    <a:lstStyle/>
                    <a:p>
                      <a:r>
                        <a:rPr sz="1500" b="0">
                          <a:solidFill>
                            <a:srgbClr val="000000"/>
                          </a:solidFill>
                          <a:latin typeface="Times New Roman"/>
                        </a:rPr>
                        <a:t>Which features move with survival and with each other?</a:t>
                      </a:r>
                    </a:p>
                  </a:txBody>
                  <a:tcPr marL="73152" marR="73152" anchor="ctr">
                    <a:solidFill>
                      <a:srgbClr val="F1F5FB"/>
                    </a:solidFill>
                  </a:tcPr>
                </a:tc>
                <a:tc>
                  <a:txBody>
                    <a:bodyPr/>
                    <a:lstStyle/>
                    <a:p>
                      <a:r>
                        <a:rPr sz="1500" b="0">
                          <a:solidFill>
                            <a:srgbClr val="000000"/>
                          </a:solidFill>
                          <a:latin typeface="Times New Roman"/>
                        </a:rPr>
                        <a:t>Pandas, Seaborn</a:t>
                      </a:r>
                    </a:p>
                  </a:txBody>
                  <a:tcPr marL="73152" marR="73152" anchor="ctr">
                    <a:solidFill>
                      <a:srgbClr val="F1F5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Survival by Sex and Class</a:t>
            </a:r>
          </a:p>
        </p:txBody>
      </p:sp>
      <p:pic>
        <p:nvPicPr>
          <p:cNvPr id="3" name="Picture 2" descr="02_sex_class.png"/>
          <p:cNvPicPr>
            <a:picLocks noChangeAspect="1"/>
          </p:cNvPicPr>
          <p:nvPr/>
        </p:nvPicPr>
        <p:blipFill>
          <a:blip r:embed="rId2"/>
          <a:stretch>
            <a:fillRect/>
          </a:stretch>
        </p:blipFill>
        <p:spPr>
          <a:xfrm>
            <a:off x="457200" y="1463040"/>
            <a:ext cx="7223760" cy="2940174"/>
          </a:xfrm>
          <a:prstGeom prst="rect">
            <a:avLst/>
          </a:prstGeom>
        </p:spPr>
      </p:pic>
      <p:sp>
        <p:nvSpPr>
          <p:cNvPr id="4" name="TextBox 3"/>
          <p:cNvSpPr txBox="1"/>
          <p:nvPr/>
        </p:nvSpPr>
        <p:spPr>
          <a:xfrm>
            <a:off x="8001000" y="1600200"/>
            <a:ext cx="3749039" cy="4206240"/>
          </a:xfrm>
          <a:prstGeom prst="rect">
            <a:avLst/>
          </a:prstGeom>
          <a:noFill/>
        </p:spPr>
        <p:txBody>
          <a:bodyPr wrap="square">
            <a:spAutoFit/>
          </a:bodyPr>
          <a:lstStyle/>
          <a:p>
            <a:pPr marL="194310" indent="-194310">
              <a:spcAft>
                <a:spcPts val="800"/>
              </a:spcAft>
              <a:buFont typeface="Arial"/>
              <a:buChar char="•"/>
            </a:pPr>
            <a:r>
              <a:rPr sz="1700" b="1">
                <a:solidFill>
                  <a:srgbClr val="000000"/>
                </a:solidFill>
                <a:latin typeface="Times New Roman"/>
              </a:rPr>
              <a:t>H1: </a:t>
            </a:r>
            <a:r>
              <a:rPr sz="1700" b="0">
                <a:solidFill>
                  <a:srgbClr val="000000"/>
                </a:solidFill>
                <a:latin typeface="Times New Roman"/>
              </a:rPr>
              <a:t>74.2% of women survived compared with 18.9% of men.</a:t>
            </a:r>
          </a:p>
          <a:p>
            <a:pPr marL="194310" indent="-194310">
              <a:spcAft>
                <a:spcPts val="800"/>
              </a:spcAft>
              <a:buFont typeface="Arial"/>
              <a:buChar char="•"/>
            </a:pPr>
            <a:r>
              <a:rPr sz="1700" b="0">
                <a:solidFill>
                  <a:srgbClr val="000000"/>
                </a:solidFill>
                <a:latin typeface="Times New Roman"/>
              </a:rPr>
              <a:t>Women were 35% of passengers but 68% of survivors (233 of 342).</a:t>
            </a:r>
          </a:p>
          <a:p>
            <a:pPr marL="194310" indent="-194310">
              <a:spcAft>
                <a:spcPts val="800"/>
              </a:spcAft>
              <a:buFont typeface="Arial"/>
              <a:buChar char="•"/>
            </a:pPr>
            <a:r>
              <a:rPr sz="1700" b="1">
                <a:solidFill>
                  <a:srgbClr val="000000"/>
                </a:solidFill>
                <a:latin typeface="Times New Roman"/>
              </a:rPr>
              <a:t>H2: </a:t>
            </a:r>
            <a:r>
              <a:rPr sz="1700" b="0">
                <a:solidFill>
                  <a:srgbClr val="000000"/>
                </a:solidFill>
                <a:latin typeface="Times New Roman"/>
              </a:rPr>
              <a:t>survival falls steadily with class: 63.0% in first, 47.3% in second, 24.2% in third.</a:t>
            </a:r>
          </a:p>
          <a:p>
            <a:pPr marL="194310" indent="-194310">
              <a:spcAft>
                <a:spcPts val="800"/>
              </a:spcAft>
              <a:buFont typeface="Arial"/>
              <a:buChar char="•"/>
            </a:pPr>
            <a:r>
              <a:rPr sz="1700" b="0">
                <a:solidFill>
                  <a:srgbClr val="000000"/>
                </a:solidFill>
                <a:latin typeface="Times New Roman"/>
              </a:rPr>
              <a:t>Third class was the largest group (491) and the only class below the baseline.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Sex and Class Together</a:t>
            </a:r>
          </a:p>
        </p:txBody>
      </p:sp>
      <p:pic>
        <p:nvPicPr>
          <p:cNvPr id="3" name="Picture 2" descr="03_heatmap.png"/>
          <p:cNvPicPr>
            <a:picLocks noChangeAspect="1"/>
          </p:cNvPicPr>
          <p:nvPr/>
        </p:nvPicPr>
        <p:blipFill>
          <a:blip r:embed="rId2"/>
          <a:stretch>
            <a:fillRect/>
          </a:stretch>
        </p:blipFill>
        <p:spPr>
          <a:xfrm>
            <a:off x="457200" y="1508760"/>
            <a:ext cx="6583680" cy="3894945"/>
          </a:xfrm>
          <a:prstGeom prst="rect">
            <a:avLst/>
          </a:prstGeom>
        </p:spPr>
      </p:pic>
      <p:sp>
        <p:nvSpPr>
          <p:cNvPr id="4" name="TextBox 3"/>
          <p:cNvSpPr txBox="1"/>
          <p:nvPr/>
        </p:nvSpPr>
        <p:spPr>
          <a:xfrm>
            <a:off x="7406640" y="1600200"/>
            <a:ext cx="4343400" cy="4206240"/>
          </a:xfrm>
          <a:prstGeom prst="rect">
            <a:avLst/>
          </a:prstGeom>
          <a:noFill/>
        </p:spPr>
        <p:txBody>
          <a:bodyPr wrap="square">
            <a:spAutoFit/>
          </a:bodyPr>
          <a:lstStyle/>
          <a:p>
            <a:pPr marL="194310" indent="-194310">
              <a:spcAft>
                <a:spcPts val="800"/>
              </a:spcAft>
              <a:buFont typeface="Arial"/>
              <a:buChar char="•"/>
            </a:pPr>
            <a:r>
              <a:rPr sz="1700" b="1">
                <a:solidFill>
                  <a:srgbClr val="000000"/>
                </a:solidFill>
                <a:latin typeface="Times New Roman"/>
              </a:rPr>
              <a:t>H3: </a:t>
            </a:r>
            <a:r>
              <a:rPr sz="1700" b="0">
                <a:solidFill>
                  <a:srgbClr val="000000"/>
                </a:solidFill>
                <a:latin typeface="Times New Roman"/>
              </a:rPr>
              <a:t>women out-survived men in every class, and both sexes did better in higher classes.</a:t>
            </a:r>
          </a:p>
          <a:p>
            <a:pPr marL="194310" indent="-194310">
              <a:spcAft>
                <a:spcPts val="800"/>
              </a:spcAft>
              <a:buFont typeface="Arial"/>
              <a:buChar char="•"/>
            </a:pPr>
            <a:r>
              <a:rPr sz="1700" b="0">
                <a:solidFill>
                  <a:srgbClr val="000000"/>
                </a:solidFill>
                <a:latin typeface="Times New Roman"/>
              </a:rPr>
              <a:t>First- and second-class women survived at 97% and 92%.</a:t>
            </a:r>
          </a:p>
          <a:p>
            <a:pPr marL="194310" indent="-194310">
              <a:spcAft>
                <a:spcPts val="800"/>
              </a:spcAft>
              <a:buFont typeface="Arial"/>
              <a:buChar char="•"/>
            </a:pPr>
            <a:r>
              <a:rPr sz="1700" b="0">
                <a:solidFill>
                  <a:srgbClr val="000000"/>
                </a:solidFill>
                <a:latin typeface="Times New Roman"/>
              </a:rPr>
              <a:t>Third-class women (50%) still beat first-class men (37%).</a:t>
            </a:r>
          </a:p>
          <a:p>
            <a:pPr marL="194310" indent="-194310">
              <a:spcAft>
                <a:spcPts val="800"/>
              </a:spcAft>
              <a:buFont typeface="Arial"/>
              <a:buChar char="•"/>
            </a:pPr>
            <a:r>
              <a:rPr sz="1700" b="1">
                <a:solidFill>
                  <a:srgbClr val="000000"/>
                </a:solidFill>
                <a:latin typeface="Times New Roman"/>
              </a:rPr>
              <a:t>Takeaway: </a:t>
            </a:r>
            <a:r>
              <a:rPr sz="1700" b="0">
                <a:solidFill>
                  <a:srgbClr val="000000"/>
                </a:solidFill>
                <a:latin typeface="Times New Roman"/>
              </a:rPr>
              <a:t>the two factors stack, and the gap between the sexes is larger than the gap between classes in these comparisons.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Age</a:t>
            </a:r>
          </a:p>
        </p:txBody>
      </p:sp>
      <p:pic>
        <p:nvPicPr>
          <p:cNvPr id="3" name="Picture 2" descr="04_age.png"/>
          <p:cNvPicPr>
            <a:picLocks noChangeAspect="1"/>
          </p:cNvPicPr>
          <p:nvPr/>
        </p:nvPicPr>
        <p:blipFill>
          <a:blip r:embed="rId2"/>
          <a:stretch>
            <a:fillRect/>
          </a:stretch>
        </p:blipFill>
        <p:spPr>
          <a:xfrm>
            <a:off x="1325880" y="1417320"/>
            <a:ext cx="9509760" cy="3459557"/>
          </a:xfrm>
          <a:prstGeom prst="rect">
            <a:avLst/>
          </a:prstGeom>
        </p:spPr>
      </p:pic>
      <p:sp>
        <p:nvSpPr>
          <p:cNvPr id="4" name="TextBox 3"/>
          <p:cNvSpPr txBox="1"/>
          <p:nvPr/>
        </p:nvSpPr>
        <p:spPr>
          <a:xfrm>
            <a:off x="822960" y="5074920"/>
            <a:ext cx="10607040" cy="1371600"/>
          </a:xfrm>
          <a:prstGeom prst="rect">
            <a:avLst/>
          </a:prstGeom>
          <a:noFill/>
        </p:spPr>
        <p:txBody>
          <a:bodyPr wrap="square">
            <a:spAutoFit/>
          </a:bodyPr>
          <a:lstStyle/>
          <a:p>
            <a:pPr marL="171450" indent="-171450">
              <a:spcAft>
                <a:spcPts val="800"/>
              </a:spcAft>
              <a:buFont typeface="Arial"/>
              <a:buChar char="•"/>
            </a:pPr>
            <a:r>
              <a:rPr sz="1500" b="0">
                <a:solidFill>
                  <a:srgbClr val="000000"/>
                </a:solidFill>
                <a:latin typeface="Times New Roman"/>
              </a:rPr>
              <a:t>Young children survived more often than they died, while ages 20 to 30 were dominated by deaths.</a:t>
            </a:r>
          </a:p>
          <a:p>
            <a:pPr marL="171450" indent="-171450">
              <a:spcAft>
                <a:spcPts val="800"/>
              </a:spcAft>
              <a:buFont typeface="Arial"/>
              <a:buChar char="•"/>
            </a:pPr>
            <a:r>
              <a:rPr sz="1500" b="0">
                <a:solidFill>
                  <a:srgbClr val="000000"/>
                </a:solidFill>
                <a:latin typeface="Times New Roman"/>
              </a:rPr>
              <a:t>Split by sex, the effect is mostly for males: boys under 13 survived at about 56% versus about 16% for adult men.</a:t>
            </a:r>
          </a:p>
          <a:p>
            <a:pPr marL="171450" indent="-171450">
              <a:spcAft>
                <a:spcPts val="800"/>
              </a:spcAft>
              <a:buFont typeface="Arial"/>
              <a:buChar char="•"/>
            </a:pPr>
            <a:r>
              <a:rPr sz="1500" b="0">
                <a:solidFill>
                  <a:srgbClr val="000000"/>
                </a:solidFill>
                <a:latin typeface="Times New Roman"/>
              </a:rPr>
              <a:t>Women survived at high rates at every 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Family Size</a:t>
            </a:r>
          </a:p>
        </p:txBody>
      </p:sp>
      <p:pic>
        <p:nvPicPr>
          <p:cNvPr id="3" name="Picture 2" descr="06_family.png"/>
          <p:cNvPicPr>
            <a:picLocks noChangeAspect="1"/>
          </p:cNvPicPr>
          <p:nvPr/>
        </p:nvPicPr>
        <p:blipFill>
          <a:blip r:embed="rId2"/>
          <a:stretch>
            <a:fillRect/>
          </a:stretch>
        </p:blipFill>
        <p:spPr>
          <a:xfrm>
            <a:off x="457200" y="1463040"/>
            <a:ext cx="6766560" cy="4094012"/>
          </a:xfrm>
          <a:prstGeom prst="rect">
            <a:avLst/>
          </a:prstGeom>
        </p:spPr>
      </p:pic>
      <p:sp>
        <p:nvSpPr>
          <p:cNvPr id="4" name="TextBox 3"/>
          <p:cNvSpPr txBox="1"/>
          <p:nvPr/>
        </p:nvSpPr>
        <p:spPr>
          <a:xfrm>
            <a:off x="7543800" y="1600200"/>
            <a:ext cx="4206240" cy="4297680"/>
          </a:xfrm>
          <a:prstGeom prst="rect">
            <a:avLst/>
          </a:prstGeom>
          <a:noFill/>
        </p:spPr>
        <p:txBody>
          <a:bodyPr wrap="square">
            <a:spAutoFit/>
          </a:bodyPr>
          <a:lstStyle/>
          <a:p>
            <a:pPr marL="194310" indent="-194310">
              <a:spcAft>
                <a:spcPts val="800"/>
              </a:spcAft>
              <a:buFont typeface="Arial"/>
              <a:buChar char="•"/>
            </a:pPr>
            <a:r>
              <a:rPr sz="1700" b="0">
                <a:solidFill>
                  <a:srgbClr val="000000"/>
                </a:solidFill>
                <a:latin typeface="Times New Roman"/>
              </a:rPr>
              <a:t>Survival follows an upside-down U.</a:t>
            </a:r>
          </a:p>
          <a:p>
            <a:pPr marL="194310" indent="-194310">
              <a:spcAft>
                <a:spcPts val="800"/>
              </a:spcAft>
              <a:buFont typeface="Arial"/>
              <a:buChar char="•"/>
            </a:pPr>
            <a:r>
              <a:rPr sz="1700" b="0">
                <a:solidFill>
                  <a:srgbClr val="000000"/>
                </a:solidFill>
                <a:latin typeface="Times New Roman"/>
              </a:rPr>
              <a:t>Solo travelers (30.4%, the largest group at 537) and families of five or more (16.1%) did worst.</a:t>
            </a:r>
          </a:p>
          <a:p>
            <a:pPr marL="194310" indent="-194310">
              <a:spcAft>
                <a:spcPts val="800"/>
              </a:spcAft>
              <a:buFont typeface="Arial"/>
              <a:buChar char="•"/>
            </a:pPr>
            <a:r>
              <a:rPr sz="1700" b="0">
                <a:solidFill>
                  <a:srgbClr val="000000"/>
                </a:solidFill>
                <a:latin typeface="Times New Roman"/>
              </a:rPr>
              <a:t>Families of two to four did best, at 55% to 72%.</a:t>
            </a:r>
          </a:p>
          <a:p>
            <a:pPr marL="194310" indent="-194310">
              <a:spcAft>
                <a:spcPts val="800"/>
              </a:spcAft>
              <a:buFont typeface="Arial"/>
              <a:buChar char="•"/>
            </a:pPr>
            <a:r>
              <a:rPr sz="1700" b="1">
                <a:solidFill>
                  <a:srgbClr val="000000"/>
                </a:solidFill>
                <a:latin typeface="Times New Roman"/>
              </a:rPr>
              <a:t>Follow-up: </a:t>
            </a:r>
            <a:r>
              <a:rPr sz="1700" b="0">
                <a:solidFill>
                  <a:srgbClr val="000000"/>
                </a:solidFill>
                <a:latin typeface="Times New Roman"/>
              </a:rPr>
              <a:t>Micro-Project 3 tests whether this pattern holds once class, sex, and age are taken into account.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Fare and Port Reflect Class</a:t>
            </a:r>
          </a:p>
        </p:txBody>
      </p:sp>
      <p:pic>
        <p:nvPicPr>
          <p:cNvPr id="3" name="Picture 2" descr="05_fare.png"/>
          <p:cNvPicPr>
            <a:picLocks noChangeAspect="1"/>
          </p:cNvPicPr>
          <p:nvPr/>
        </p:nvPicPr>
        <p:blipFill>
          <a:blip r:embed="rId2"/>
          <a:stretch>
            <a:fillRect/>
          </a:stretch>
        </p:blipFill>
        <p:spPr>
          <a:xfrm>
            <a:off x="457200" y="1417320"/>
            <a:ext cx="4846320" cy="2967690"/>
          </a:xfrm>
          <a:prstGeom prst="rect">
            <a:avLst/>
          </a:prstGeom>
        </p:spPr>
      </p:pic>
      <p:pic>
        <p:nvPicPr>
          <p:cNvPr id="4" name="Picture 3" descr="07_port.png"/>
          <p:cNvPicPr>
            <a:picLocks noChangeAspect="1"/>
          </p:cNvPicPr>
          <p:nvPr/>
        </p:nvPicPr>
        <p:blipFill>
          <a:blip r:embed="rId3"/>
          <a:stretch>
            <a:fillRect/>
          </a:stretch>
        </p:blipFill>
        <p:spPr>
          <a:xfrm>
            <a:off x="5532120" y="1600200"/>
            <a:ext cx="6217920" cy="2217304"/>
          </a:xfrm>
          <a:prstGeom prst="rect">
            <a:avLst/>
          </a:prstGeom>
        </p:spPr>
      </p:pic>
      <p:sp>
        <p:nvSpPr>
          <p:cNvPr id="5" name="TextBox 4"/>
          <p:cNvSpPr txBox="1"/>
          <p:nvPr/>
        </p:nvSpPr>
        <p:spPr>
          <a:xfrm>
            <a:off x="548640" y="4343400"/>
            <a:ext cx="11064240" cy="1920240"/>
          </a:xfrm>
          <a:prstGeom prst="rect">
            <a:avLst/>
          </a:prstGeom>
          <a:noFill/>
        </p:spPr>
        <p:txBody>
          <a:bodyPr wrap="square">
            <a:spAutoFit/>
          </a:bodyPr>
          <a:lstStyle/>
          <a:p>
            <a:pPr marL="182880" indent="-182880">
              <a:spcAft>
                <a:spcPts val="800"/>
              </a:spcAft>
              <a:buFont typeface="Arial"/>
              <a:buChar char="•"/>
            </a:pPr>
            <a:r>
              <a:rPr sz="1600" b="1">
                <a:solidFill>
                  <a:srgbClr val="000000"/>
                </a:solidFill>
                <a:latin typeface="Times New Roman"/>
              </a:rPr>
              <a:t>Fare: </a:t>
            </a:r>
            <a:r>
              <a:rPr sz="1600" b="0">
                <a:solidFill>
                  <a:srgbClr val="000000"/>
                </a:solidFill>
                <a:latin typeface="Times New Roman"/>
              </a:rPr>
              <a:t>survivors paid a median of $26.00 versus $10.50, but inside third class the gap nearly disappears ($8.52 versus $8.05).</a:t>
            </a:r>
          </a:p>
          <a:p>
            <a:pPr marL="182880" indent="-182880">
              <a:spcAft>
                <a:spcPts val="800"/>
              </a:spcAft>
              <a:buFont typeface="Arial"/>
              <a:buChar char="•"/>
            </a:pPr>
            <a:r>
              <a:rPr sz="1600" b="1">
                <a:solidFill>
                  <a:srgbClr val="000000"/>
                </a:solidFill>
                <a:latin typeface="Times New Roman"/>
              </a:rPr>
              <a:t>Port: </a:t>
            </a:r>
            <a:r>
              <a:rPr sz="1600" b="0">
                <a:solidFill>
                  <a:srgbClr val="000000"/>
                </a:solidFill>
                <a:latin typeface="Times New Roman"/>
              </a:rPr>
              <a:t>Cherbourg survived at 55.4%, but 51% of its passengers were first class, compared with 20% at Southampton.</a:t>
            </a:r>
          </a:p>
          <a:p>
            <a:pPr marL="182880" indent="-182880">
              <a:spcAft>
                <a:spcPts val="800"/>
              </a:spcAft>
              <a:buFont typeface="Arial"/>
              <a:buChar char="•"/>
            </a:pPr>
            <a:r>
              <a:rPr sz="1600" b="1">
                <a:solidFill>
                  <a:srgbClr val="000000"/>
                </a:solidFill>
                <a:latin typeface="Times New Roman"/>
              </a:rPr>
              <a:t>Lesson: </a:t>
            </a:r>
            <a:r>
              <a:rPr sz="1600" b="0">
                <a:solidFill>
                  <a:srgbClr val="000000"/>
                </a:solidFill>
                <a:latin typeface="Times New Roman"/>
              </a:rPr>
              <a:t>a one-variable chart can mislead when another variable is doing the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Statistical Checks</a:t>
            </a:r>
          </a:p>
        </p:txBody>
      </p:sp>
      <p:graphicFrame>
        <p:nvGraphicFramePr>
          <p:cNvPr id="3" name="Table 2"/>
          <p:cNvGraphicFramePr>
            <a:graphicFrameLocks noGrp="1"/>
          </p:cNvGraphicFramePr>
          <p:nvPr/>
        </p:nvGraphicFramePr>
        <p:xfrm>
          <a:off x="548640" y="1600200"/>
          <a:ext cx="5394960" cy="320040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tblGrid>
              <a:tr h="457200">
                <a:tc>
                  <a:txBody>
                    <a:bodyPr/>
                    <a:lstStyle/>
                    <a:p>
                      <a:r>
                        <a:rPr sz="1500" b="1">
                          <a:solidFill>
                            <a:srgbClr val="FFFFFF"/>
                          </a:solidFill>
                          <a:latin typeface="Times New Roman"/>
                        </a:rPr>
                        <a:t>Variable</a:t>
                      </a:r>
                    </a:p>
                  </a:txBody>
                  <a:tcPr marL="73152" marR="73152" anchor="ctr">
                    <a:solidFill>
                      <a:srgbClr val="1C5CAB"/>
                    </a:solidFill>
                  </a:tcPr>
                </a:tc>
                <a:tc>
                  <a:txBody>
                    <a:bodyPr/>
                    <a:lstStyle/>
                    <a:p>
                      <a:r>
                        <a:rPr sz="1500" b="1">
                          <a:solidFill>
                            <a:srgbClr val="FFFFFF"/>
                          </a:solidFill>
                          <a:latin typeface="Times New Roman"/>
                        </a:rPr>
                        <a:t>Chi-square</a:t>
                      </a:r>
                    </a:p>
                  </a:txBody>
                  <a:tcPr marL="73152" marR="73152" anchor="ctr">
                    <a:solidFill>
                      <a:srgbClr val="1C5CAB"/>
                    </a:solidFill>
                  </a:tcPr>
                </a:tc>
                <a:tc>
                  <a:txBody>
                    <a:bodyPr/>
                    <a:lstStyle/>
                    <a:p>
                      <a:r>
                        <a:rPr sz="1500" b="1">
                          <a:solidFill>
                            <a:srgbClr val="FFFFFF"/>
                          </a:solidFill>
                          <a:latin typeface="Times New Roman"/>
                        </a:rPr>
                        <a:t>p-value</a:t>
                      </a:r>
                    </a:p>
                  </a:txBody>
                  <a:tcPr marL="73152" marR="73152" anchor="ctr">
                    <a:solidFill>
                      <a:srgbClr val="1C5CAB"/>
                    </a:solidFill>
                  </a:tcPr>
                </a:tc>
                <a:tc>
                  <a:txBody>
                    <a:bodyPr/>
                    <a:lstStyle/>
                    <a:p>
                      <a:r>
                        <a:rPr sz="1500" b="1">
                          <a:solidFill>
                            <a:srgbClr val="FFFFFF"/>
                          </a:solidFill>
                          <a:latin typeface="Times New Roman"/>
                        </a:rPr>
                        <a:t>Cramer's V</a:t>
                      </a:r>
                    </a:p>
                  </a:txBody>
                  <a:tcPr marL="73152" marR="73152" anchor="ctr">
                    <a:solidFill>
                      <a:srgbClr val="1C5CAB"/>
                    </a:solidFill>
                  </a:tcPr>
                </a:tc>
                <a:extLst>
                  <a:ext uri="{0D108BD9-81ED-4DB2-BD59-A6C34878D82A}">
                    <a16:rowId xmlns:a16="http://schemas.microsoft.com/office/drawing/2014/main" val="10000"/>
                  </a:ext>
                </a:extLst>
              </a:tr>
              <a:tr h="457200">
                <a:tc>
                  <a:txBody>
                    <a:bodyPr/>
                    <a:lstStyle/>
                    <a:p>
                      <a:r>
                        <a:rPr sz="1500" b="0">
                          <a:solidFill>
                            <a:srgbClr val="000000"/>
                          </a:solidFill>
                          <a:latin typeface="Times New Roman"/>
                        </a:rPr>
                        <a:t>Title</a:t>
                      </a:r>
                    </a:p>
                  </a:txBody>
                  <a:tcPr marL="73152" marR="73152" anchor="ctr">
                    <a:solidFill>
                      <a:srgbClr val="FFFFFF"/>
                    </a:solidFill>
                  </a:tcPr>
                </a:tc>
                <a:tc>
                  <a:txBody>
                    <a:bodyPr/>
                    <a:lstStyle/>
                    <a:p>
                      <a:r>
                        <a:rPr sz="1500" b="0">
                          <a:solidFill>
                            <a:srgbClr val="000000"/>
                          </a:solidFill>
                          <a:latin typeface="Times New Roman"/>
                        </a:rPr>
                        <a:t>288.1</a:t>
                      </a:r>
                    </a:p>
                  </a:txBody>
                  <a:tcPr marL="73152" marR="73152" anchor="ctr">
                    <a:solidFill>
                      <a:srgbClr val="FFFFFF"/>
                    </a:solidFill>
                  </a:tcPr>
                </a:tc>
                <a:tc>
                  <a:txBody>
                    <a:bodyPr/>
                    <a:lstStyle/>
                    <a:p>
                      <a:r>
                        <a:rPr sz="1500" b="0">
                          <a:solidFill>
                            <a:srgbClr val="000000"/>
                          </a:solidFill>
                          <a:latin typeface="Times New Roman"/>
                        </a:rPr>
                        <a:t>4.0e-61</a:t>
                      </a:r>
                    </a:p>
                  </a:txBody>
                  <a:tcPr marL="73152" marR="73152" anchor="ctr">
                    <a:solidFill>
                      <a:srgbClr val="FFFFFF"/>
                    </a:solidFill>
                  </a:tcPr>
                </a:tc>
                <a:tc>
                  <a:txBody>
                    <a:bodyPr/>
                    <a:lstStyle/>
                    <a:p>
                      <a:r>
                        <a:rPr sz="1500" b="0">
                          <a:solidFill>
                            <a:srgbClr val="000000"/>
                          </a:solidFill>
                          <a:latin typeface="Times New Roman"/>
                        </a:rPr>
                        <a:t>0.57</a:t>
                      </a:r>
                    </a:p>
                  </a:txBody>
                  <a:tcPr marL="73152" marR="73152" anchor="ctr">
                    <a:solidFill>
                      <a:srgbClr val="FFFFFF"/>
                    </a:solidFill>
                  </a:tcPr>
                </a:tc>
                <a:extLst>
                  <a:ext uri="{0D108BD9-81ED-4DB2-BD59-A6C34878D82A}">
                    <a16:rowId xmlns:a16="http://schemas.microsoft.com/office/drawing/2014/main" val="10001"/>
                  </a:ext>
                </a:extLst>
              </a:tr>
              <a:tr h="457200">
                <a:tc>
                  <a:txBody>
                    <a:bodyPr/>
                    <a:lstStyle/>
                    <a:p>
                      <a:r>
                        <a:rPr sz="1500" b="0">
                          <a:solidFill>
                            <a:srgbClr val="000000"/>
                          </a:solidFill>
                          <a:latin typeface="Times New Roman"/>
                        </a:rPr>
                        <a:t>Sex</a:t>
                      </a:r>
                    </a:p>
                  </a:txBody>
                  <a:tcPr marL="73152" marR="73152" anchor="ctr">
                    <a:solidFill>
                      <a:srgbClr val="F1F5FB"/>
                    </a:solidFill>
                  </a:tcPr>
                </a:tc>
                <a:tc>
                  <a:txBody>
                    <a:bodyPr/>
                    <a:lstStyle/>
                    <a:p>
                      <a:r>
                        <a:rPr sz="1500" b="0">
                          <a:solidFill>
                            <a:srgbClr val="000000"/>
                          </a:solidFill>
                          <a:latin typeface="Times New Roman"/>
                        </a:rPr>
                        <a:t>260.7</a:t>
                      </a:r>
                    </a:p>
                  </a:txBody>
                  <a:tcPr marL="73152" marR="73152" anchor="ctr">
                    <a:solidFill>
                      <a:srgbClr val="F1F5FB"/>
                    </a:solidFill>
                  </a:tcPr>
                </a:tc>
                <a:tc>
                  <a:txBody>
                    <a:bodyPr/>
                    <a:lstStyle/>
                    <a:p>
                      <a:r>
                        <a:rPr sz="1500" b="0">
                          <a:solidFill>
                            <a:srgbClr val="000000"/>
                          </a:solidFill>
                          <a:latin typeface="Times New Roman"/>
                        </a:rPr>
                        <a:t>1.2e-58</a:t>
                      </a:r>
                    </a:p>
                  </a:txBody>
                  <a:tcPr marL="73152" marR="73152" anchor="ctr">
                    <a:solidFill>
                      <a:srgbClr val="F1F5FB"/>
                    </a:solidFill>
                  </a:tcPr>
                </a:tc>
                <a:tc>
                  <a:txBody>
                    <a:bodyPr/>
                    <a:lstStyle/>
                    <a:p>
                      <a:r>
                        <a:rPr sz="1500" b="0">
                          <a:solidFill>
                            <a:srgbClr val="000000"/>
                          </a:solidFill>
                          <a:latin typeface="Times New Roman"/>
                        </a:rPr>
                        <a:t>0.54</a:t>
                      </a:r>
                    </a:p>
                  </a:txBody>
                  <a:tcPr marL="73152" marR="73152" anchor="ctr">
                    <a:solidFill>
                      <a:srgbClr val="F1F5FB"/>
                    </a:solidFill>
                  </a:tcPr>
                </a:tc>
                <a:extLst>
                  <a:ext uri="{0D108BD9-81ED-4DB2-BD59-A6C34878D82A}">
                    <a16:rowId xmlns:a16="http://schemas.microsoft.com/office/drawing/2014/main" val="10002"/>
                  </a:ext>
                </a:extLst>
              </a:tr>
              <a:tr h="457200">
                <a:tc>
                  <a:txBody>
                    <a:bodyPr/>
                    <a:lstStyle/>
                    <a:p>
                      <a:r>
                        <a:rPr sz="1500" b="0">
                          <a:solidFill>
                            <a:srgbClr val="000000"/>
                          </a:solidFill>
                          <a:latin typeface="Times New Roman"/>
                        </a:rPr>
                        <a:t>Ticket class</a:t>
                      </a:r>
                    </a:p>
                  </a:txBody>
                  <a:tcPr marL="73152" marR="73152" anchor="ctr">
                    <a:solidFill>
                      <a:srgbClr val="FFFFFF"/>
                    </a:solidFill>
                  </a:tcPr>
                </a:tc>
                <a:tc>
                  <a:txBody>
                    <a:bodyPr/>
                    <a:lstStyle/>
                    <a:p>
                      <a:r>
                        <a:rPr sz="1500" b="0">
                          <a:solidFill>
                            <a:srgbClr val="000000"/>
                          </a:solidFill>
                          <a:latin typeface="Times New Roman"/>
                        </a:rPr>
                        <a:t>102.9</a:t>
                      </a:r>
                    </a:p>
                  </a:txBody>
                  <a:tcPr marL="73152" marR="73152" anchor="ctr">
                    <a:solidFill>
                      <a:srgbClr val="FFFFFF"/>
                    </a:solidFill>
                  </a:tcPr>
                </a:tc>
                <a:tc>
                  <a:txBody>
                    <a:bodyPr/>
                    <a:lstStyle/>
                    <a:p>
                      <a:r>
                        <a:rPr sz="1500" b="0">
                          <a:solidFill>
                            <a:srgbClr val="000000"/>
                          </a:solidFill>
                          <a:latin typeface="Times New Roman"/>
                        </a:rPr>
                        <a:t>4.5e-23</a:t>
                      </a:r>
                    </a:p>
                  </a:txBody>
                  <a:tcPr marL="73152" marR="73152" anchor="ctr">
                    <a:solidFill>
                      <a:srgbClr val="FFFFFF"/>
                    </a:solidFill>
                  </a:tcPr>
                </a:tc>
                <a:tc>
                  <a:txBody>
                    <a:bodyPr/>
                    <a:lstStyle/>
                    <a:p>
                      <a:r>
                        <a:rPr sz="1500" b="0">
                          <a:solidFill>
                            <a:srgbClr val="000000"/>
                          </a:solidFill>
                          <a:latin typeface="Times New Roman"/>
                        </a:rPr>
                        <a:t>0.34</a:t>
                      </a:r>
                    </a:p>
                  </a:txBody>
                  <a:tcPr marL="73152" marR="73152" anchor="ctr">
                    <a:solidFill>
                      <a:srgbClr val="FFFFFF"/>
                    </a:solidFill>
                  </a:tcPr>
                </a:tc>
                <a:extLst>
                  <a:ext uri="{0D108BD9-81ED-4DB2-BD59-A6C34878D82A}">
                    <a16:rowId xmlns:a16="http://schemas.microsoft.com/office/drawing/2014/main" val="10003"/>
                  </a:ext>
                </a:extLst>
              </a:tr>
              <a:tr h="457200">
                <a:tc>
                  <a:txBody>
                    <a:bodyPr/>
                    <a:lstStyle/>
                    <a:p>
                      <a:r>
                        <a:rPr sz="1500" b="0">
                          <a:solidFill>
                            <a:srgbClr val="000000"/>
                          </a:solidFill>
                          <a:latin typeface="Times New Roman"/>
                        </a:rPr>
                        <a:t>Traveling alone</a:t>
                      </a:r>
                    </a:p>
                  </a:txBody>
                  <a:tcPr marL="73152" marR="73152" anchor="ctr">
                    <a:solidFill>
                      <a:srgbClr val="F1F5FB"/>
                    </a:solidFill>
                  </a:tcPr>
                </a:tc>
                <a:tc>
                  <a:txBody>
                    <a:bodyPr/>
                    <a:lstStyle/>
                    <a:p>
                      <a:r>
                        <a:rPr sz="1500" b="0">
                          <a:solidFill>
                            <a:srgbClr val="000000"/>
                          </a:solidFill>
                          <a:latin typeface="Times New Roman"/>
                        </a:rPr>
                        <a:t>36.0</a:t>
                      </a:r>
                    </a:p>
                  </a:txBody>
                  <a:tcPr marL="73152" marR="73152" anchor="ctr">
                    <a:solidFill>
                      <a:srgbClr val="F1F5FB"/>
                    </a:solidFill>
                  </a:tcPr>
                </a:tc>
                <a:tc>
                  <a:txBody>
                    <a:bodyPr/>
                    <a:lstStyle/>
                    <a:p>
                      <a:r>
                        <a:rPr sz="1500" b="0">
                          <a:solidFill>
                            <a:srgbClr val="000000"/>
                          </a:solidFill>
                          <a:latin typeface="Times New Roman"/>
                        </a:rPr>
                        <a:t>2.0e-09</a:t>
                      </a:r>
                    </a:p>
                  </a:txBody>
                  <a:tcPr marL="73152" marR="73152" anchor="ctr">
                    <a:solidFill>
                      <a:srgbClr val="F1F5FB"/>
                    </a:solidFill>
                  </a:tcPr>
                </a:tc>
                <a:tc>
                  <a:txBody>
                    <a:bodyPr/>
                    <a:lstStyle/>
                    <a:p>
                      <a:r>
                        <a:rPr sz="1500" b="0">
                          <a:solidFill>
                            <a:srgbClr val="000000"/>
                          </a:solidFill>
                          <a:latin typeface="Times New Roman"/>
                        </a:rPr>
                        <a:t>0.20</a:t>
                      </a:r>
                    </a:p>
                  </a:txBody>
                  <a:tcPr marL="73152" marR="73152" anchor="ctr">
                    <a:solidFill>
                      <a:srgbClr val="F1F5FB"/>
                    </a:solidFill>
                  </a:tcPr>
                </a:tc>
                <a:extLst>
                  <a:ext uri="{0D108BD9-81ED-4DB2-BD59-A6C34878D82A}">
                    <a16:rowId xmlns:a16="http://schemas.microsoft.com/office/drawing/2014/main" val="10004"/>
                  </a:ext>
                </a:extLst>
              </a:tr>
              <a:tr h="457200">
                <a:tc>
                  <a:txBody>
                    <a:bodyPr/>
                    <a:lstStyle/>
                    <a:p>
                      <a:r>
                        <a:rPr sz="1500" b="0">
                          <a:solidFill>
                            <a:srgbClr val="000000"/>
                          </a:solidFill>
                          <a:latin typeface="Times New Roman"/>
                        </a:rPr>
                        <a:t>Port</a:t>
                      </a:r>
                    </a:p>
                  </a:txBody>
                  <a:tcPr marL="73152" marR="73152" anchor="ctr">
                    <a:solidFill>
                      <a:srgbClr val="FFFFFF"/>
                    </a:solidFill>
                  </a:tcPr>
                </a:tc>
                <a:tc>
                  <a:txBody>
                    <a:bodyPr/>
                    <a:lstStyle/>
                    <a:p>
                      <a:r>
                        <a:rPr sz="1500" b="0">
                          <a:solidFill>
                            <a:srgbClr val="000000"/>
                          </a:solidFill>
                          <a:latin typeface="Times New Roman"/>
                        </a:rPr>
                        <a:t>26.0</a:t>
                      </a:r>
                    </a:p>
                  </a:txBody>
                  <a:tcPr marL="73152" marR="73152" anchor="ctr">
                    <a:solidFill>
                      <a:srgbClr val="FFFFFF"/>
                    </a:solidFill>
                  </a:tcPr>
                </a:tc>
                <a:tc>
                  <a:txBody>
                    <a:bodyPr/>
                    <a:lstStyle/>
                    <a:p>
                      <a:r>
                        <a:rPr sz="1500" b="0">
                          <a:solidFill>
                            <a:srgbClr val="000000"/>
                          </a:solidFill>
                          <a:latin typeface="Times New Roman"/>
                        </a:rPr>
                        <a:t>2.3e-06</a:t>
                      </a:r>
                    </a:p>
                  </a:txBody>
                  <a:tcPr marL="73152" marR="73152" anchor="ctr">
                    <a:solidFill>
                      <a:srgbClr val="FFFFFF"/>
                    </a:solidFill>
                  </a:tcPr>
                </a:tc>
                <a:tc>
                  <a:txBody>
                    <a:bodyPr/>
                    <a:lstStyle/>
                    <a:p>
                      <a:r>
                        <a:rPr sz="1500" b="0">
                          <a:solidFill>
                            <a:srgbClr val="000000"/>
                          </a:solidFill>
                          <a:latin typeface="Times New Roman"/>
                        </a:rPr>
                        <a:t>0.17</a:t>
                      </a:r>
                    </a:p>
                  </a:txBody>
                  <a:tcPr marL="73152" marR="73152" anchor="ctr">
                    <a:solidFill>
                      <a:srgbClr val="FFFFFF"/>
                    </a:solidFill>
                  </a:tcPr>
                </a:tc>
                <a:extLst>
                  <a:ext uri="{0D108BD9-81ED-4DB2-BD59-A6C34878D82A}">
                    <a16:rowId xmlns:a16="http://schemas.microsoft.com/office/drawing/2014/main" val="10005"/>
                  </a:ext>
                </a:extLst>
              </a:tr>
              <a:tr h="457200">
                <a:tc>
                  <a:txBody>
                    <a:bodyPr/>
                    <a:lstStyle/>
                    <a:p>
                      <a:r>
                        <a:rPr sz="1500" b="0">
                          <a:solidFill>
                            <a:srgbClr val="000000"/>
                          </a:solidFill>
                          <a:latin typeface="Times New Roman"/>
                        </a:rPr>
                        <a:t>Age group</a:t>
                      </a:r>
                    </a:p>
                  </a:txBody>
                  <a:tcPr marL="73152" marR="73152" anchor="ctr">
                    <a:solidFill>
                      <a:srgbClr val="F1F5FB"/>
                    </a:solidFill>
                  </a:tcPr>
                </a:tc>
                <a:tc>
                  <a:txBody>
                    <a:bodyPr/>
                    <a:lstStyle/>
                    <a:p>
                      <a:r>
                        <a:rPr sz="1500" b="0">
                          <a:solidFill>
                            <a:srgbClr val="000000"/>
                          </a:solidFill>
                          <a:latin typeface="Times New Roman"/>
                        </a:rPr>
                        <a:t>17.1</a:t>
                      </a:r>
                    </a:p>
                  </a:txBody>
                  <a:tcPr marL="73152" marR="73152" anchor="ctr">
                    <a:solidFill>
                      <a:srgbClr val="F1F5FB"/>
                    </a:solidFill>
                  </a:tcPr>
                </a:tc>
                <a:tc>
                  <a:txBody>
                    <a:bodyPr/>
                    <a:lstStyle/>
                    <a:p>
                      <a:r>
                        <a:rPr sz="1500" b="0">
                          <a:solidFill>
                            <a:srgbClr val="000000"/>
                          </a:solidFill>
                          <a:latin typeface="Times New Roman"/>
                        </a:rPr>
                        <a:t>1.8e-03</a:t>
                      </a:r>
                    </a:p>
                  </a:txBody>
                  <a:tcPr marL="73152" marR="73152" anchor="ctr">
                    <a:solidFill>
                      <a:srgbClr val="F1F5FB"/>
                    </a:solidFill>
                  </a:tcPr>
                </a:tc>
                <a:tc>
                  <a:txBody>
                    <a:bodyPr/>
                    <a:lstStyle/>
                    <a:p>
                      <a:r>
                        <a:rPr sz="1500" b="0">
                          <a:solidFill>
                            <a:srgbClr val="000000"/>
                          </a:solidFill>
                          <a:latin typeface="Times New Roman"/>
                        </a:rPr>
                        <a:t>0.14</a:t>
                      </a:r>
                    </a:p>
                  </a:txBody>
                  <a:tcPr marL="73152" marR="73152" anchor="ctr">
                    <a:solidFill>
                      <a:srgbClr val="F1F5FB"/>
                    </a:solidFill>
                  </a:tcPr>
                </a:tc>
                <a:extLst>
                  <a:ext uri="{0D108BD9-81ED-4DB2-BD59-A6C34878D82A}">
                    <a16:rowId xmlns:a16="http://schemas.microsoft.com/office/drawing/2014/main" val="10006"/>
                  </a:ext>
                </a:extLst>
              </a:tr>
            </a:tbl>
          </a:graphicData>
        </a:graphic>
      </p:graphicFrame>
      <p:sp>
        <p:nvSpPr>
          <p:cNvPr id="4" name="TextBox 3"/>
          <p:cNvSpPr txBox="1"/>
          <p:nvPr/>
        </p:nvSpPr>
        <p:spPr>
          <a:xfrm>
            <a:off x="548640" y="4983480"/>
            <a:ext cx="5212080" cy="1280160"/>
          </a:xfrm>
          <a:prstGeom prst="rect">
            <a:avLst/>
          </a:prstGeom>
          <a:noFill/>
        </p:spPr>
        <p:txBody>
          <a:bodyPr wrap="square">
            <a:spAutoFit/>
          </a:bodyPr>
          <a:lstStyle/>
          <a:p>
            <a:pPr marL="171450" indent="-171450">
              <a:spcAft>
                <a:spcPts val="800"/>
              </a:spcAft>
              <a:buFont typeface="Arial"/>
              <a:buChar char="•"/>
            </a:pPr>
            <a:r>
              <a:rPr sz="1500" b="0">
                <a:solidFill>
                  <a:srgbClr val="000000"/>
                </a:solidFill>
                <a:latin typeface="Times New Roman"/>
              </a:rPr>
              <a:t>Every variable shows a statistically significant association (p &lt; 0.05); Cramer's V shows sex and class are the strongest.</a:t>
            </a:r>
          </a:p>
          <a:p>
            <a:pPr marL="171450" indent="-171450">
              <a:spcAft>
                <a:spcPts val="800"/>
              </a:spcAft>
              <a:buFont typeface="Arial"/>
              <a:buChar char="•"/>
            </a:pPr>
            <a:r>
              <a:rPr sz="1500" b="0">
                <a:solidFill>
                  <a:srgbClr val="000000"/>
                </a:solidFill>
                <a:latin typeface="Times New Roman"/>
              </a:rPr>
              <a:t>Class, cabin, and fare are strongly correlated with each other, so they overlap.</a:t>
            </a:r>
          </a:p>
        </p:txBody>
      </p:sp>
      <p:pic>
        <p:nvPicPr>
          <p:cNvPr id="5" name="Picture 4" descr="08_corr.png"/>
          <p:cNvPicPr>
            <a:picLocks noChangeAspect="1"/>
          </p:cNvPicPr>
          <p:nvPr/>
        </p:nvPicPr>
        <p:blipFill>
          <a:blip r:embed="rId2"/>
          <a:stretch>
            <a:fillRect/>
          </a:stretch>
        </p:blipFill>
        <p:spPr>
          <a:xfrm>
            <a:off x="6263640" y="1463040"/>
            <a:ext cx="5440680" cy="40246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Modeling Techniques</a:t>
            </a:r>
          </a:p>
        </p:txBody>
      </p:sp>
      <p:graphicFrame>
        <p:nvGraphicFramePr>
          <p:cNvPr id="3" name="Table 2"/>
          <p:cNvGraphicFramePr>
            <a:graphicFrameLocks noGrp="1"/>
          </p:cNvGraphicFramePr>
          <p:nvPr/>
        </p:nvGraphicFramePr>
        <p:xfrm>
          <a:off x="777240" y="1600200"/>
          <a:ext cx="10607040" cy="3968496"/>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566928">
                <a:tc>
                  <a:txBody>
                    <a:bodyPr/>
                    <a:lstStyle/>
                    <a:p>
                      <a:r>
                        <a:rPr sz="1500" b="1">
                          <a:solidFill>
                            <a:srgbClr val="FFFFFF"/>
                          </a:solidFill>
                          <a:latin typeface="Times New Roman"/>
                        </a:rPr>
                        <a:t>Technique</a:t>
                      </a:r>
                    </a:p>
                  </a:txBody>
                  <a:tcPr marL="73152" marR="73152" anchor="ctr">
                    <a:solidFill>
                      <a:srgbClr val="1C5CAB"/>
                    </a:solidFill>
                  </a:tcPr>
                </a:tc>
                <a:tc>
                  <a:txBody>
                    <a:bodyPr/>
                    <a:lstStyle/>
                    <a:p>
                      <a:r>
                        <a:rPr sz="1500" b="1">
                          <a:solidFill>
                            <a:srgbClr val="FFFFFF"/>
                          </a:solidFill>
                          <a:latin typeface="Times New Roman"/>
                        </a:rPr>
                        <a:t>Purpose</a:t>
                      </a:r>
                    </a:p>
                  </a:txBody>
                  <a:tcPr marL="73152" marR="73152" anchor="ctr">
                    <a:solidFill>
                      <a:srgbClr val="1C5CAB"/>
                    </a:solidFill>
                  </a:tcPr>
                </a:tc>
                <a:tc>
                  <a:txBody>
                    <a:bodyPr/>
                    <a:lstStyle/>
                    <a:p>
                      <a:r>
                        <a:rPr sz="1500" b="1">
                          <a:solidFill>
                            <a:srgbClr val="FFFFFF"/>
                          </a:solidFill>
                          <a:latin typeface="Times New Roman"/>
                        </a:rPr>
                        <a:t>Target</a:t>
                      </a:r>
                    </a:p>
                  </a:txBody>
                  <a:tcPr marL="73152" marR="73152" anchor="ctr">
                    <a:solidFill>
                      <a:srgbClr val="1C5CAB"/>
                    </a:solidFill>
                  </a:tcPr>
                </a:tc>
                <a:extLst>
                  <a:ext uri="{0D108BD9-81ED-4DB2-BD59-A6C34878D82A}">
                    <a16:rowId xmlns:a16="http://schemas.microsoft.com/office/drawing/2014/main" val="10000"/>
                  </a:ext>
                </a:extLst>
              </a:tr>
              <a:tr h="566928">
                <a:tc>
                  <a:txBody>
                    <a:bodyPr/>
                    <a:lstStyle/>
                    <a:p>
                      <a:r>
                        <a:rPr sz="1500" b="0">
                          <a:solidFill>
                            <a:srgbClr val="000000"/>
                          </a:solidFill>
                          <a:latin typeface="Times New Roman"/>
                        </a:rPr>
                        <a:t>Majority-class baseline</a:t>
                      </a:r>
                    </a:p>
                  </a:txBody>
                  <a:tcPr marL="73152" marR="73152" anchor="ctr">
                    <a:solidFill>
                      <a:srgbClr val="FFFFFF"/>
                    </a:solidFill>
                  </a:tcPr>
                </a:tc>
                <a:tc>
                  <a:txBody>
                    <a:bodyPr/>
                    <a:lstStyle/>
                    <a:p>
                      <a:r>
                        <a:rPr sz="1500" b="0">
                          <a:solidFill>
                            <a:srgbClr val="000000"/>
                          </a:solidFill>
                          <a:latin typeface="Times New Roman"/>
                        </a:rPr>
                        <a:t>The score to beat</a:t>
                      </a:r>
                    </a:p>
                  </a:txBody>
                  <a:tcPr marL="73152" marR="73152" anchor="ctr">
                    <a:solidFill>
                      <a:srgbClr val="FFFFFF"/>
                    </a:solidFill>
                  </a:tcPr>
                </a:tc>
                <a:tc>
                  <a:txBody>
                    <a:bodyPr/>
                    <a:lstStyle/>
                    <a:p>
                      <a:r>
                        <a:rPr sz="1500" b="0">
                          <a:solidFill>
                            <a:srgbClr val="000000"/>
                          </a:solidFill>
                          <a:latin typeface="Times New Roman"/>
                        </a:rPr>
                        <a:t>Survival</a:t>
                      </a:r>
                    </a:p>
                  </a:txBody>
                  <a:tcPr marL="73152" marR="73152" anchor="ctr">
                    <a:solidFill>
                      <a:srgbClr val="FFFFFF"/>
                    </a:solidFill>
                  </a:tcPr>
                </a:tc>
                <a:extLst>
                  <a:ext uri="{0D108BD9-81ED-4DB2-BD59-A6C34878D82A}">
                    <a16:rowId xmlns:a16="http://schemas.microsoft.com/office/drawing/2014/main" val="10001"/>
                  </a:ext>
                </a:extLst>
              </a:tr>
              <a:tr h="566928">
                <a:tc>
                  <a:txBody>
                    <a:bodyPr/>
                    <a:lstStyle/>
                    <a:p>
                      <a:r>
                        <a:rPr sz="1500" b="0">
                          <a:solidFill>
                            <a:srgbClr val="000000"/>
                          </a:solidFill>
                          <a:latin typeface="Times New Roman"/>
                        </a:rPr>
                        <a:t>Logistic regression</a:t>
                      </a:r>
                    </a:p>
                  </a:txBody>
                  <a:tcPr marL="73152" marR="73152" anchor="ctr">
                    <a:solidFill>
                      <a:srgbClr val="F1F5FB"/>
                    </a:solidFill>
                  </a:tcPr>
                </a:tc>
                <a:tc>
                  <a:txBody>
                    <a:bodyPr/>
                    <a:lstStyle/>
                    <a:p>
                      <a:r>
                        <a:rPr sz="1500" b="0">
                          <a:solidFill>
                            <a:srgbClr val="000000"/>
                          </a:solidFill>
                          <a:latin typeface="Times New Roman"/>
                        </a:rPr>
                        <a:t>Linear classifier; odds ratios for H4 to H6</a:t>
                      </a:r>
                    </a:p>
                  </a:txBody>
                  <a:tcPr marL="73152" marR="73152" anchor="ctr">
                    <a:solidFill>
                      <a:srgbClr val="F1F5FB"/>
                    </a:solidFill>
                  </a:tcPr>
                </a:tc>
                <a:tc>
                  <a:txBody>
                    <a:bodyPr/>
                    <a:lstStyle/>
                    <a:p>
                      <a:r>
                        <a:rPr sz="1500" b="0">
                          <a:solidFill>
                            <a:srgbClr val="000000"/>
                          </a:solidFill>
                          <a:latin typeface="Times New Roman"/>
                        </a:rPr>
                        <a:t>Survival</a:t>
                      </a:r>
                    </a:p>
                  </a:txBody>
                  <a:tcPr marL="73152" marR="73152" anchor="ctr">
                    <a:solidFill>
                      <a:srgbClr val="F1F5FB"/>
                    </a:solidFill>
                  </a:tcPr>
                </a:tc>
                <a:extLst>
                  <a:ext uri="{0D108BD9-81ED-4DB2-BD59-A6C34878D82A}">
                    <a16:rowId xmlns:a16="http://schemas.microsoft.com/office/drawing/2014/main" val="10002"/>
                  </a:ext>
                </a:extLst>
              </a:tr>
              <a:tr h="566928">
                <a:tc>
                  <a:txBody>
                    <a:bodyPr/>
                    <a:lstStyle/>
                    <a:p>
                      <a:r>
                        <a:rPr sz="1500" b="0">
                          <a:solidFill>
                            <a:srgbClr val="000000"/>
                          </a:solidFill>
                          <a:latin typeface="Times New Roman"/>
                        </a:rPr>
                        <a:t>Linear and RBF SVM classifiers</a:t>
                      </a:r>
                    </a:p>
                  </a:txBody>
                  <a:tcPr marL="73152" marR="73152" anchor="ctr">
                    <a:solidFill>
                      <a:srgbClr val="FFFFFF"/>
                    </a:solidFill>
                  </a:tcPr>
                </a:tc>
                <a:tc>
                  <a:txBody>
                    <a:bodyPr/>
                    <a:lstStyle/>
                    <a:p>
                      <a:r>
                        <a:rPr sz="1500" b="0">
                          <a:solidFill>
                            <a:srgbClr val="000000"/>
                          </a:solidFill>
                          <a:latin typeface="Times New Roman"/>
                        </a:rPr>
                        <a:t>Maximum-margin boundaries, straight and curved</a:t>
                      </a:r>
                    </a:p>
                  </a:txBody>
                  <a:tcPr marL="73152" marR="73152" anchor="ctr">
                    <a:solidFill>
                      <a:srgbClr val="FFFFFF"/>
                    </a:solidFill>
                  </a:tcPr>
                </a:tc>
                <a:tc>
                  <a:txBody>
                    <a:bodyPr/>
                    <a:lstStyle/>
                    <a:p>
                      <a:r>
                        <a:rPr sz="1500" b="0">
                          <a:solidFill>
                            <a:srgbClr val="000000"/>
                          </a:solidFill>
                          <a:latin typeface="Times New Roman"/>
                        </a:rPr>
                        <a:t>Survival</a:t>
                      </a:r>
                    </a:p>
                  </a:txBody>
                  <a:tcPr marL="73152" marR="73152" anchor="ctr">
                    <a:solidFill>
                      <a:srgbClr val="FFFFFF"/>
                    </a:solidFill>
                  </a:tcPr>
                </a:tc>
                <a:extLst>
                  <a:ext uri="{0D108BD9-81ED-4DB2-BD59-A6C34878D82A}">
                    <a16:rowId xmlns:a16="http://schemas.microsoft.com/office/drawing/2014/main" val="10003"/>
                  </a:ext>
                </a:extLst>
              </a:tr>
              <a:tr h="566928">
                <a:tc>
                  <a:txBody>
                    <a:bodyPr/>
                    <a:lstStyle/>
                    <a:p>
                      <a:r>
                        <a:rPr sz="1500" b="0">
                          <a:solidFill>
                            <a:srgbClr val="000000"/>
                          </a:solidFill>
                          <a:latin typeface="Times New Roman"/>
                        </a:rPr>
                        <a:t>Grid search + 5-fold cross-validation</a:t>
                      </a:r>
                    </a:p>
                  </a:txBody>
                  <a:tcPr marL="73152" marR="73152" anchor="ctr">
                    <a:solidFill>
                      <a:srgbClr val="F1F5FB"/>
                    </a:solidFill>
                  </a:tcPr>
                </a:tc>
                <a:tc>
                  <a:txBody>
                    <a:bodyPr/>
                    <a:lstStyle/>
                    <a:p>
                      <a:r>
                        <a:rPr sz="1500" b="0">
                          <a:solidFill>
                            <a:srgbClr val="000000"/>
                          </a:solidFill>
                          <a:latin typeface="Times New Roman"/>
                        </a:rPr>
                        <a:t>Choose settings without touching the test set</a:t>
                      </a:r>
                    </a:p>
                  </a:txBody>
                  <a:tcPr marL="73152" marR="73152" anchor="ctr">
                    <a:solidFill>
                      <a:srgbClr val="F1F5FB"/>
                    </a:solidFill>
                  </a:tcPr>
                </a:tc>
                <a:tc>
                  <a:txBody>
                    <a:bodyPr/>
                    <a:lstStyle/>
                    <a:p>
                      <a:r>
                        <a:rPr sz="1500" b="0">
                          <a:solidFill>
                            <a:srgbClr val="000000"/>
                          </a:solidFill>
                          <a:latin typeface="Times New Roman"/>
                        </a:rPr>
                        <a:t>Both</a:t>
                      </a:r>
                    </a:p>
                  </a:txBody>
                  <a:tcPr marL="73152" marR="73152" anchor="ctr">
                    <a:solidFill>
                      <a:srgbClr val="F1F5FB"/>
                    </a:solidFill>
                  </a:tcPr>
                </a:tc>
                <a:extLst>
                  <a:ext uri="{0D108BD9-81ED-4DB2-BD59-A6C34878D82A}">
                    <a16:rowId xmlns:a16="http://schemas.microsoft.com/office/drawing/2014/main" val="10004"/>
                  </a:ext>
                </a:extLst>
              </a:tr>
              <a:tr h="566928">
                <a:tc>
                  <a:txBody>
                    <a:bodyPr/>
                    <a:lstStyle/>
                    <a:p>
                      <a:r>
                        <a:rPr sz="1500" b="0">
                          <a:solidFill>
                            <a:srgbClr val="000000"/>
                          </a:solidFill>
                          <a:latin typeface="Times New Roman"/>
                        </a:rPr>
                        <a:t>Likelihood ratio test</a:t>
                      </a:r>
                    </a:p>
                  </a:txBody>
                  <a:tcPr marL="73152" marR="73152" anchor="ctr">
                    <a:solidFill>
                      <a:srgbClr val="FFFFFF"/>
                    </a:solidFill>
                  </a:tcPr>
                </a:tc>
                <a:tc>
                  <a:txBody>
                    <a:bodyPr/>
                    <a:lstStyle/>
                    <a:p>
                      <a:r>
                        <a:rPr sz="1500" b="0">
                          <a:solidFill>
                            <a:srgbClr val="000000"/>
                          </a:solidFill>
                          <a:latin typeface="Times New Roman"/>
                        </a:rPr>
                        <a:t>Does a sex by class interaction help? (H6)</a:t>
                      </a:r>
                    </a:p>
                  </a:txBody>
                  <a:tcPr marL="73152" marR="73152" anchor="ctr">
                    <a:solidFill>
                      <a:srgbClr val="FFFFFF"/>
                    </a:solidFill>
                  </a:tcPr>
                </a:tc>
                <a:tc>
                  <a:txBody>
                    <a:bodyPr/>
                    <a:lstStyle/>
                    <a:p>
                      <a:r>
                        <a:rPr sz="1500" b="0">
                          <a:solidFill>
                            <a:srgbClr val="000000"/>
                          </a:solidFill>
                          <a:latin typeface="Times New Roman"/>
                        </a:rPr>
                        <a:t>Survival</a:t>
                      </a:r>
                    </a:p>
                  </a:txBody>
                  <a:tcPr marL="73152" marR="73152" anchor="ctr">
                    <a:solidFill>
                      <a:srgbClr val="FFFFFF"/>
                    </a:solidFill>
                  </a:tcPr>
                </a:tc>
                <a:extLst>
                  <a:ext uri="{0D108BD9-81ED-4DB2-BD59-A6C34878D82A}">
                    <a16:rowId xmlns:a16="http://schemas.microsoft.com/office/drawing/2014/main" val="10005"/>
                  </a:ext>
                </a:extLst>
              </a:tr>
              <a:tr h="566928">
                <a:tc>
                  <a:txBody>
                    <a:bodyPr/>
                    <a:lstStyle/>
                    <a:p>
                      <a:r>
                        <a:rPr sz="1500" b="0">
                          <a:solidFill>
                            <a:srgbClr val="000000"/>
                          </a:solidFill>
                          <a:latin typeface="Times New Roman"/>
                        </a:rPr>
                        <a:t>Linear regression and SVR</a:t>
                      </a:r>
                    </a:p>
                  </a:txBody>
                  <a:tcPr marL="73152" marR="73152" anchor="ctr">
                    <a:solidFill>
                      <a:srgbClr val="F1F5FB"/>
                    </a:solidFill>
                  </a:tcPr>
                </a:tc>
                <a:tc>
                  <a:txBody>
                    <a:bodyPr/>
                    <a:lstStyle/>
                    <a:p>
                      <a:r>
                        <a:rPr sz="1500" b="0">
                          <a:solidFill>
                            <a:srgbClr val="000000"/>
                          </a:solidFill>
                          <a:latin typeface="Times New Roman"/>
                        </a:rPr>
                        <a:t>Predict log fare (H8)</a:t>
                      </a:r>
                    </a:p>
                  </a:txBody>
                  <a:tcPr marL="73152" marR="73152" anchor="ctr">
                    <a:solidFill>
                      <a:srgbClr val="F1F5FB"/>
                    </a:solidFill>
                  </a:tcPr>
                </a:tc>
                <a:tc>
                  <a:txBody>
                    <a:bodyPr/>
                    <a:lstStyle/>
                    <a:p>
                      <a:r>
                        <a:rPr sz="1500" b="0">
                          <a:solidFill>
                            <a:srgbClr val="000000"/>
                          </a:solidFill>
                          <a:latin typeface="Times New Roman"/>
                        </a:rPr>
                        <a:t>Fare</a:t>
                      </a:r>
                    </a:p>
                  </a:txBody>
                  <a:tcPr marL="73152" marR="73152" anchor="ctr">
                    <a:solidFill>
                      <a:srgbClr val="F1F5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Survival Models vs Baseline</a:t>
            </a:r>
          </a:p>
        </p:txBody>
      </p:sp>
      <p:pic>
        <p:nvPicPr>
          <p:cNvPr id="3" name="Picture 2" descr="01_model_compare.png"/>
          <p:cNvPicPr>
            <a:picLocks noChangeAspect="1"/>
          </p:cNvPicPr>
          <p:nvPr/>
        </p:nvPicPr>
        <p:blipFill>
          <a:blip r:embed="rId2"/>
          <a:stretch>
            <a:fillRect/>
          </a:stretch>
        </p:blipFill>
        <p:spPr>
          <a:xfrm>
            <a:off x="457200" y="1463040"/>
            <a:ext cx="7315200" cy="2827554"/>
          </a:xfrm>
          <a:prstGeom prst="rect">
            <a:avLst/>
          </a:prstGeom>
        </p:spPr>
      </p:pic>
      <p:sp>
        <p:nvSpPr>
          <p:cNvPr id="4" name="TextBox 3"/>
          <p:cNvSpPr txBox="1"/>
          <p:nvPr/>
        </p:nvSpPr>
        <p:spPr>
          <a:xfrm>
            <a:off x="8001000" y="1600200"/>
            <a:ext cx="3749039" cy="4389120"/>
          </a:xfrm>
          <a:prstGeom prst="rect">
            <a:avLst/>
          </a:prstGeom>
          <a:noFill/>
        </p:spPr>
        <p:txBody>
          <a:bodyPr wrap="square">
            <a:spAutoFit/>
          </a:bodyPr>
          <a:lstStyle/>
          <a:p>
            <a:pPr marL="182880" indent="-182880">
              <a:spcAft>
                <a:spcPts val="800"/>
              </a:spcAft>
              <a:buFont typeface="Arial"/>
              <a:buChar char="•"/>
            </a:pPr>
            <a:r>
              <a:rPr sz="1600" b="1">
                <a:solidFill>
                  <a:srgbClr val="000000"/>
                </a:solidFill>
                <a:latin typeface="Times New Roman"/>
              </a:rPr>
              <a:t>H7: </a:t>
            </a:r>
            <a:r>
              <a:rPr sz="1600" b="0">
                <a:solidFill>
                  <a:srgbClr val="000000"/>
                </a:solidFill>
                <a:latin typeface="Times New Roman"/>
              </a:rPr>
              <a:t>all three models beat the 61.5% baseline on the 179 test passengers.</a:t>
            </a:r>
          </a:p>
          <a:p>
            <a:pPr marL="182880" indent="-182880">
              <a:spcAft>
                <a:spcPts val="800"/>
              </a:spcAft>
              <a:buFont typeface="Arial"/>
              <a:buChar char="•"/>
            </a:pPr>
            <a:r>
              <a:rPr sz="1600" b="0">
                <a:solidFill>
                  <a:srgbClr val="000000"/>
                </a:solidFill>
                <a:latin typeface="Times New Roman"/>
              </a:rPr>
              <a:t>RBF SVM 81.6%, logistic regression 78.8%, linear SVM 77.7%.</a:t>
            </a:r>
          </a:p>
          <a:p>
            <a:pPr marL="182880" indent="-182880">
              <a:spcAft>
                <a:spcPts val="800"/>
              </a:spcAft>
              <a:buFont typeface="Arial"/>
              <a:buChar char="•"/>
            </a:pPr>
            <a:r>
              <a:rPr sz="1600" b="0">
                <a:solidFill>
                  <a:srgbClr val="000000"/>
                </a:solidFill>
                <a:latin typeface="Times New Roman"/>
              </a:rPr>
              <a:t>ROC AUC of 0.82 to 0.86 shows all three rank survivors well.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Where the Models Miss</a:t>
            </a:r>
          </a:p>
        </p:txBody>
      </p:sp>
      <p:pic>
        <p:nvPicPr>
          <p:cNvPr id="3" name="Picture 2" descr="02_confusion.png"/>
          <p:cNvPicPr>
            <a:picLocks noChangeAspect="1"/>
          </p:cNvPicPr>
          <p:nvPr/>
        </p:nvPicPr>
        <p:blipFill>
          <a:blip r:embed="rId2"/>
          <a:stretch>
            <a:fillRect/>
          </a:stretch>
        </p:blipFill>
        <p:spPr>
          <a:xfrm>
            <a:off x="457200" y="1463040"/>
            <a:ext cx="6675120" cy="2583040"/>
          </a:xfrm>
          <a:prstGeom prst="rect">
            <a:avLst/>
          </a:prstGeom>
        </p:spPr>
      </p:pic>
      <p:pic>
        <p:nvPicPr>
          <p:cNvPr id="4" name="Picture 3" descr="03_roc.png"/>
          <p:cNvPicPr>
            <a:picLocks noChangeAspect="1"/>
          </p:cNvPicPr>
          <p:nvPr/>
        </p:nvPicPr>
        <p:blipFill>
          <a:blip r:embed="rId3"/>
          <a:stretch>
            <a:fillRect/>
          </a:stretch>
        </p:blipFill>
        <p:spPr>
          <a:xfrm>
            <a:off x="7452360" y="1417320"/>
            <a:ext cx="3952282" cy="3566160"/>
          </a:xfrm>
          <a:prstGeom prst="rect">
            <a:avLst/>
          </a:prstGeom>
        </p:spPr>
      </p:pic>
      <p:sp>
        <p:nvSpPr>
          <p:cNvPr id="5" name="TextBox 4"/>
          <p:cNvSpPr txBox="1"/>
          <p:nvPr/>
        </p:nvSpPr>
        <p:spPr>
          <a:xfrm>
            <a:off x="548640" y="4892040"/>
            <a:ext cx="11064240" cy="1280160"/>
          </a:xfrm>
          <a:prstGeom prst="rect">
            <a:avLst/>
          </a:prstGeom>
          <a:noFill/>
        </p:spPr>
        <p:txBody>
          <a:bodyPr wrap="square">
            <a:spAutoFit/>
          </a:bodyPr>
          <a:lstStyle/>
          <a:p>
            <a:pPr marL="182880" indent="-182880">
              <a:spcAft>
                <a:spcPts val="800"/>
              </a:spcAft>
              <a:buFont typeface="Arial"/>
              <a:buChar char="•"/>
            </a:pPr>
            <a:r>
              <a:rPr sz="1600" b="0">
                <a:solidFill>
                  <a:srgbClr val="000000"/>
                </a:solidFill>
                <a:latin typeface="Times New Roman"/>
              </a:rPr>
              <a:t>Both models miss more survivors (22) than they wrongly flag (11 to 16): precision is higher than recall.</a:t>
            </a:r>
          </a:p>
          <a:p>
            <a:pPr marL="182880" indent="-182880">
              <a:spcAft>
                <a:spcPts val="800"/>
              </a:spcAft>
              <a:buFont typeface="Arial"/>
              <a:buChar char="•"/>
            </a:pPr>
            <a:r>
              <a:rPr sz="1600" b="0">
                <a:solidFill>
                  <a:srgbClr val="000000"/>
                </a:solidFill>
                <a:latin typeface="Times New Roman"/>
              </a:rPr>
              <a:t>The RBF SVM's gain comes from fewer false alarms, not from finding more survivors.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Iteration with Title</a:t>
            </a:r>
          </a:p>
        </p:txBody>
      </p:sp>
      <p:graphicFrame>
        <p:nvGraphicFramePr>
          <p:cNvPr id="3" name="Table 2"/>
          <p:cNvGraphicFramePr>
            <a:graphicFrameLocks noGrp="1"/>
          </p:cNvGraphicFramePr>
          <p:nvPr/>
        </p:nvGraphicFramePr>
        <p:xfrm>
          <a:off x="777240" y="1645920"/>
          <a:ext cx="10607040" cy="1645919"/>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548639">
                <a:tc>
                  <a:txBody>
                    <a:bodyPr/>
                    <a:lstStyle/>
                    <a:p>
                      <a:r>
                        <a:rPr sz="1600" b="1">
                          <a:solidFill>
                            <a:srgbClr val="FFFFFF"/>
                          </a:solidFill>
                          <a:latin typeface="Times New Roman"/>
                        </a:rPr>
                        <a:t>Model</a:t>
                      </a:r>
                    </a:p>
                  </a:txBody>
                  <a:tcPr marL="73152" marR="73152" anchor="ctr">
                    <a:solidFill>
                      <a:srgbClr val="1C5CAB"/>
                    </a:solidFill>
                  </a:tcPr>
                </a:tc>
                <a:tc>
                  <a:txBody>
                    <a:bodyPr/>
                    <a:lstStyle/>
                    <a:p>
                      <a:r>
                        <a:rPr sz="1600" b="1">
                          <a:solidFill>
                            <a:srgbClr val="FFFFFF"/>
                          </a:solidFill>
                          <a:latin typeface="Times New Roman"/>
                        </a:rPr>
                        <a:t>CV accuracy without</a:t>
                      </a:r>
                    </a:p>
                  </a:txBody>
                  <a:tcPr marL="73152" marR="73152" anchor="ctr">
                    <a:solidFill>
                      <a:srgbClr val="1C5CAB"/>
                    </a:solidFill>
                  </a:tcPr>
                </a:tc>
                <a:tc>
                  <a:txBody>
                    <a:bodyPr/>
                    <a:lstStyle/>
                    <a:p>
                      <a:r>
                        <a:rPr sz="1600" b="1">
                          <a:solidFill>
                            <a:srgbClr val="FFFFFF"/>
                          </a:solidFill>
                          <a:latin typeface="Times New Roman"/>
                        </a:rPr>
                        <a:t>CV accuracy with Title</a:t>
                      </a:r>
                    </a:p>
                  </a:txBody>
                  <a:tcPr marL="73152" marR="73152" anchor="ctr">
                    <a:solidFill>
                      <a:srgbClr val="1C5CAB"/>
                    </a:solidFill>
                  </a:tcPr>
                </a:tc>
                <a:tc>
                  <a:txBody>
                    <a:bodyPr/>
                    <a:lstStyle/>
                    <a:p>
                      <a:r>
                        <a:rPr sz="1600" b="1">
                          <a:solidFill>
                            <a:srgbClr val="FFFFFF"/>
                          </a:solidFill>
                          <a:latin typeface="Times New Roman"/>
                        </a:rPr>
                        <a:t>Test without</a:t>
                      </a:r>
                    </a:p>
                  </a:txBody>
                  <a:tcPr marL="73152" marR="73152" anchor="ctr">
                    <a:solidFill>
                      <a:srgbClr val="1C5CAB"/>
                    </a:solidFill>
                  </a:tcPr>
                </a:tc>
                <a:tc>
                  <a:txBody>
                    <a:bodyPr/>
                    <a:lstStyle/>
                    <a:p>
                      <a:r>
                        <a:rPr sz="1600" b="1">
                          <a:solidFill>
                            <a:srgbClr val="FFFFFF"/>
                          </a:solidFill>
                          <a:latin typeface="Times New Roman"/>
                        </a:rPr>
                        <a:t>Test with Title</a:t>
                      </a:r>
                    </a:p>
                  </a:txBody>
                  <a:tcPr marL="73152" marR="73152" anchor="ctr">
                    <a:solidFill>
                      <a:srgbClr val="1C5CAB"/>
                    </a:solidFill>
                  </a:tcPr>
                </a:tc>
                <a:extLst>
                  <a:ext uri="{0D108BD9-81ED-4DB2-BD59-A6C34878D82A}">
                    <a16:rowId xmlns:a16="http://schemas.microsoft.com/office/drawing/2014/main" val="10000"/>
                  </a:ext>
                </a:extLst>
              </a:tr>
              <a:tr h="548639">
                <a:tc>
                  <a:txBody>
                    <a:bodyPr/>
                    <a:lstStyle/>
                    <a:p>
                      <a:r>
                        <a:rPr sz="1600" b="0">
                          <a:solidFill>
                            <a:srgbClr val="000000"/>
                          </a:solidFill>
                          <a:latin typeface="Times New Roman"/>
                        </a:rPr>
                        <a:t>Logistic regression</a:t>
                      </a:r>
                    </a:p>
                  </a:txBody>
                  <a:tcPr marL="73152" marR="73152" anchor="ctr">
                    <a:solidFill>
                      <a:srgbClr val="FFFFFF"/>
                    </a:solidFill>
                  </a:tcPr>
                </a:tc>
                <a:tc>
                  <a:txBody>
                    <a:bodyPr/>
                    <a:lstStyle/>
                    <a:p>
                      <a:r>
                        <a:rPr sz="1600" b="0">
                          <a:solidFill>
                            <a:srgbClr val="000000"/>
                          </a:solidFill>
                          <a:latin typeface="Times New Roman"/>
                        </a:rPr>
                        <a:t>80.5%</a:t>
                      </a:r>
                    </a:p>
                  </a:txBody>
                  <a:tcPr marL="73152" marR="73152" anchor="ctr">
                    <a:solidFill>
                      <a:srgbClr val="FFFFFF"/>
                    </a:solidFill>
                  </a:tcPr>
                </a:tc>
                <a:tc>
                  <a:txBody>
                    <a:bodyPr/>
                    <a:lstStyle/>
                    <a:p>
                      <a:r>
                        <a:rPr sz="1600" b="0">
                          <a:solidFill>
                            <a:srgbClr val="000000"/>
                          </a:solidFill>
                          <a:latin typeface="Times New Roman"/>
                        </a:rPr>
                        <a:t>83.1%</a:t>
                      </a:r>
                    </a:p>
                  </a:txBody>
                  <a:tcPr marL="73152" marR="73152" anchor="ctr">
                    <a:solidFill>
                      <a:srgbClr val="FFFFFF"/>
                    </a:solidFill>
                  </a:tcPr>
                </a:tc>
                <a:tc>
                  <a:txBody>
                    <a:bodyPr/>
                    <a:lstStyle/>
                    <a:p>
                      <a:r>
                        <a:rPr sz="1600" b="0">
                          <a:solidFill>
                            <a:srgbClr val="000000"/>
                          </a:solidFill>
                          <a:latin typeface="Times New Roman"/>
                        </a:rPr>
                        <a:t>78.8%</a:t>
                      </a:r>
                    </a:p>
                  </a:txBody>
                  <a:tcPr marL="73152" marR="73152" anchor="ctr">
                    <a:solidFill>
                      <a:srgbClr val="FFFFFF"/>
                    </a:solidFill>
                  </a:tcPr>
                </a:tc>
                <a:tc>
                  <a:txBody>
                    <a:bodyPr/>
                    <a:lstStyle/>
                    <a:p>
                      <a:r>
                        <a:rPr sz="1600" b="0">
                          <a:solidFill>
                            <a:srgbClr val="000000"/>
                          </a:solidFill>
                          <a:latin typeface="Times New Roman"/>
                        </a:rPr>
                        <a:t>84.4%</a:t>
                      </a:r>
                    </a:p>
                  </a:txBody>
                  <a:tcPr marL="73152" marR="73152" anchor="ctr">
                    <a:solidFill>
                      <a:srgbClr val="FFFFFF"/>
                    </a:solidFill>
                  </a:tcPr>
                </a:tc>
                <a:extLst>
                  <a:ext uri="{0D108BD9-81ED-4DB2-BD59-A6C34878D82A}">
                    <a16:rowId xmlns:a16="http://schemas.microsoft.com/office/drawing/2014/main" val="10001"/>
                  </a:ext>
                </a:extLst>
              </a:tr>
              <a:tr h="548641">
                <a:tc>
                  <a:txBody>
                    <a:bodyPr/>
                    <a:lstStyle/>
                    <a:p>
                      <a:r>
                        <a:rPr sz="1600" b="0">
                          <a:solidFill>
                            <a:srgbClr val="000000"/>
                          </a:solidFill>
                          <a:latin typeface="Times New Roman"/>
                        </a:rPr>
                        <a:t>RBF SVM</a:t>
                      </a:r>
                    </a:p>
                  </a:txBody>
                  <a:tcPr marL="73152" marR="73152" anchor="ctr">
                    <a:solidFill>
                      <a:srgbClr val="F1F5FB"/>
                    </a:solidFill>
                  </a:tcPr>
                </a:tc>
                <a:tc>
                  <a:txBody>
                    <a:bodyPr/>
                    <a:lstStyle/>
                    <a:p>
                      <a:r>
                        <a:rPr sz="1600" b="0">
                          <a:solidFill>
                            <a:srgbClr val="000000"/>
                          </a:solidFill>
                          <a:latin typeface="Times New Roman"/>
                        </a:rPr>
                        <a:t>82.4%</a:t>
                      </a:r>
                    </a:p>
                  </a:txBody>
                  <a:tcPr marL="73152" marR="73152" anchor="ctr">
                    <a:solidFill>
                      <a:srgbClr val="F1F5FB"/>
                    </a:solidFill>
                  </a:tcPr>
                </a:tc>
                <a:tc>
                  <a:txBody>
                    <a:bodyPr/>
                    <a:lstStyle/>
                    <a:p>
                      <a:r>
                        <a:rPr sz="1600" b="0">
                          <a:solidFill>
                            <a:srgbClr val="000000"/>
                          </a:solidFill>
                          <a:latin typeface="Times New Roman"/>
                        </a:rPr>
                        <a:t>83.8%</a:t>
                      </a:r>
                    </a:p>
                  </a:txBody>
                  <a:tcPr marL="73152" marR="73152" anchor="ctr">
                    <a:solidFill>
                      <a:srgbClr val="F1F5FB"/>
                    </a:solidFill>
                  </a:tcPr>
                </a:tc>
                <a:tc>
                  <a:txBody>
                    <a:bodyPr/>
                    <a:lstStyle/>
                    <a:p>
                      <a:r>
                        <a:rPr sz="1600" b="0">
                          <a:solidFill>
                            <a:srgbClr val="000000"/>
                          </a:solidFill>
                          <a:latin typeface="Times New Roman"/>
                        </a:rPr>
                        <a:t>81.6%</a:t>
                      </a:r>
                    </a:p>
                  </a:txBody>
                  <a:tcPr marL="73152" marR="73152" anchor="ctr">
                    <a:solidFill>
                      <a:srgbClr val="F1F5FB"/>
                    </a:solidFill>
                  </a:tcPr>
                </a:tc>
                <a:tc>
                  <a:txBody>
                    <a:bodyPr/>
                    <a:lstStyle/>
                    <a:p>
                      <a:r>
                        <a:rPr sz="1600" b="0">
                          <a:solidFill>
                            <a:srgbClr val="000000"/>
                          </a:solidFill>
                          <a:latin typeface="Times New Roman"/>
                        </a:rPr>
                        <a:t>82.7%</a:t>
                      </a:r>
                    </a:p>
                  </a:txBody>
                  <a:tcPr marL="73152" marR="73152" anchor="ctr">
                    <a:solidFill>
                      <a:srgbClr val="F1F5FB"/>
                    </a:solidFill>
                  </a:tcPr>
                </a:tc>
                <a:extLst>
                  <a:ext uri="{0D108BD9-81ED-4DB2-BD59-A6C34878D82A}">
                    <a16:rowId xmlns:a16="http://schemas.microsoft.com/office/drawing/2014/main" val="10002"/>
                  </a:ext>
                </a:extLst>
              </a:tr>
            </a:tbl>
          </a:graphicData>
        </a:graphic>
      </p:graphicFrame>
      <p:sp>
        <p:nvSpPr>
          <p:cNvPr id="4" name="TextBox 3"/>
          <p:cNvSpPr txBox="1"/>
          <p:nvPr/>
        </p:nvSpPr>
        <p:spPr>
          <a:xfrm>
            <a:off x="777240" y="3520440"/>
            <a:ext cx="10607040" cy="2560320"/>
          </a:xfrm>
          <a:prstGeom prst="rect">
            <a:avLst/>
          </a:prstGeom>
          <a:noFill/>
        </p:spPr>
        <p:txBody>
          <a:bodyPr wrap="square">
            <a:spAutoFit/>
          </a:bodyPr>
          <a:lstStyle/>
          <a:p>
            <a:pPr marL="194310" indent="-194310">
              <a:spcAft>
                <a:spcPts val="800"/>
              </a:spcAft>
              <a:buFont typeface="Arial"/>
              <a:buChar char="•"/>
            </a:pPr>
            <a:r>
              <a:rPr sz="1700" b="1">
                <a:solidFill>
                  <a:srgbClr val="000000"/>
                </a:solidFill>
                <a:latin typeface="Times New Roman"/>
              </a:rPr>
              <a:t>Why test it: </a:t>
            </a:r>
            <a:r>
              <a:rPr sz="1700" b="0">
                <a:solidFill>
                  <a:srgbClr val="000000"/>
                </a:solidFill>
                <a:latin typeface="Times New Roman"/>
              </a:rPr>
              <a:t>Title mostly repeats sex and age, but "Master" marks boys, who survived far more often than adult men.</a:t>
            </a:r>
          </a:p>
          <a:p>
            <a:pPr marL="194310" indent="-194310">
              <a:spcAft>
                <a:spcPts val="800"/>
              </a:spcAft>
              <a:buFont typeface="Arial"/>
              <a:buChar char="•"/>
            </a:pPr>
            <a:r>
              <a:rPr sz="1700" b="1">
                <a:solidFill>
                  <a:srgbClr val="000000"/>
                </a:solidFill>
                <a:latin typeface="Times New Roman"/>
              </a:rPr>
              <a:t>Result: </a:t>
            </a:r>
            <a:r>
              <a:rPr sz="1700" b="0">
                <a:solidFill>
                  <a:srgbClr val="000000"/>
                </a:solidFill>
                <a:latin typeface="Times New Roman"/>
              </a:rPr>
              <a:t>both models improved in cross-validation and on the test set, so the Title versions are used for prediction in Step 5.</a:t>
            </a:r>
          </a:p>
          <a:p>
            <a:pPr marL="194310" indent="-194310">
              <a:spcAft>
                <a:spcPts val="800"/>
              </a:spcAft>
              <a:buFont typeface="Arial"/>
              <a:buChar char="•"/>
            </a:pPr>
            <a:r>
              <a:rPr sz="1700" b="1">
                <a:solidFill>
                  <a:srgbClr val="000000"/>
                </a:solidFill>
                <a:latin typeface="Times New Roman"/>
              </a:rPr>
              <a:t>Not used for interpretation: </a:t>
            </a:r>
            <a:r>
              <a:rPr sz="1700" b="0">
                <a:solidFill>
                  <a:srgbClr val="000000"/>
                </a:solidFill>
                <a:latin typeface="Times New Roman"/>
              </a:rPr>
              <a:t>Title overlaps so heavily with sex that it would make the sex odds ratio hard to read.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Adjusted Odds Ratios (H4, H5)</a:t>
            </a:r>
          </a:p>
        </p:txBody>
      </p:sp>
      <p:pic>
        <p:nvPicPr>
          <p:cNvPr id="3" name="Picture 2" descr="04_odds_ratios.png"/>
          <p:cNvPicPr>
            <a:picLocks noChangeAspect="1"/>
          </p:cNvPicPr>
          <p:nvPr/>
        </p:nvPicPr>
        <p:blipFill>
          <a:blip r:embed="rId2"/>
          <a:stretch>
            <a:fillRect/>
          </a:stretch>
        </p:blipFill>
        <p:spPr>
          <a:xfrm>
            <a:off x="411480" y="1417320"/>
            <a:ext cx="6949440" cy="3639635"/>
          </a:xfrm>
          <a:prstGeom prst="rect">
            <a:avLst/>
          </a:prstGeom>
        </p:spPr>
      </p:pic>
      <p:sp>
        <p:nvSpPr>
          <p:cNvPr id="4" name="TextBox 3"/>
          <p:cNvSpPr txBox="1"/>
          <p:nvPr/>
        </p:nvSpPr>
        <p:spPr>
          <a:xfrm>
            <a:off x="7589520" y="1508760"/>
            <a:ext cx="4160520" cy="4572000"/>
          </a:xfrm>
          <a:prstGeom prst="rect">
            <a:avLst/>
          </a:prstGeom>
          <a:noFill/>
        </p:spPr>
        <p:txBody>
          <a:bodyPr wrap="square">
            <a:spAutoFit/>
          </a:bodyPr>
          <a:lstStyle/>
          <a:p>
            <a:pPr marL="182880" indent="-182880">
              <a:spcAft>
                <a:spcPts val="800"/>
              </a:spcAft>
              <a:buFont typeface="Arial"/>
              <a:buChar char="•"/>
            </a:pPr>
            <a:r>
              <a:rPr sz="1600" b="1">
                <a:solidFill>
                  <a:srgbClr val="000000"/>
                </a:solidFill>
                <a:latin typeface="Times New Roman"/>
              </a:rPr>
              <a:t>H4: </a:t>
            </a:r>
            <a:r>
              <a:rPr sz="1600" b="0">
                <a:solidFill>
                  <a:srgbClr val="000000"/>
                </a:solidFill>
                <a:latin typeface="Times New Roman"/>
              </a:rPr>
              <a:t>women had about 15 times the odds of survival of men (95% CI 10 to 23), holding the others constant.</a:t>
            </a:r>
          </a:p>
          <a:p>
            <a:pPr marL="182880" indent="-182880">
              <a:spcAft>
                <a:spcPts val="800"/>
              </a:spcAft>
              <a:buFont typeface="Arial"/>
              <a:buChar char="•"/>
            </a:pPr>
            <a:r>
              <a:rPr sz="1600" b="1">
                <a:solidFill>
                  <a:srgbClr val="000000"/>
                </a:solidFill>
                <a:latin typeface="Times New Roman"/>
              </a:rPr>
              <a:t>H5: </a:t>
            </a:r>
            <a:r>
              <a:rPr sz="1600" b="0">
                <a:solidFill>
                  <a:srgbClr val="000000"/>
                </a:solidFill>
                <a:latin typeface="Times New Roman"/>
              </a:rPr>
              <a:t>3rd class 0.09 and 2nd class 0.29 times the odds of 1st class.</a:t>
            </a:r>
          </a:p>
          <a:p>
            <a:pPr marL="182880" indent="-182880">
              <a:spcAft>
                <a:spcPts val="800"/>
              </a:spcAft>
              <a:buFont typeface="Arial"/>
              <a:buChar char="•"/>
            </a:pPr>
            <a:r>
              <a:rPr sz="1600" b="1">
                <a:solidFill>
                  <a:srgbClr val="000000"/>
                </a:solidFill>
                <a:latin typeface="Times New Roman"/>
              </a:rPr>
              <a:t>No longer significant: </a:t>
            </a:r>
            <a:r>
              <a:rPr sz="1600" b="0">
                <a:solidFill>
                  <a:srgbClr val="000000"/>
                </a:solidFill>
                <a:latin typeface="Times New Roman"/>
              </a:rPr>
              <a:t>port and small family size, once class and sex are in the model.</a:t>
            </a:r>
          </a:p>
          <a:p>
            <a:pPr marL="182880" indent="-182880">
              <a:spcAft>
                <a:spcPts val="800"/>
              </a:spcAft>
              <a:buFont typeface="Arial"/>
              <a:buChar char="•"/>
            </a:pPr>
            <a:r>
              <a:rPr sz="1600" b="0">
                <a:solidFill>
                  <a:srgbClr val="000000"/>
                </a:solidFill>
                <a:latin typeface="Times New Roman"/>
              </a:rPr>
              <a:t>Large families (0.12) and each 10 years of age (0.65) keep lower odds.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The Sex Gap Differs by Class (H6)</a:t>
            </a:r>
          </a:p>
        </p:txBody>
      </p:sp>
      <p:graphicFrame>
        <p:nvGraphicFramePr>
          <p:cNvPr id="3" name="Table 2"/>
          <p:cNvGraphicFramePr>
            <a:graphicFrameLocks noGrp="1"/>
          </p:cNvGraphicFramePr>
          <p:nvPr/>
        </p:nvGraphicFramePr>
        <p:xfrm>
          <a:off x="777240" y="1691640"/>
          <a:ext cx="5852160" cy="17830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594360">
                <a:tc>
                  <a:txBody>
                    <a:bodyPr/>
                    <a:lstStyle/>
                    <a:p>
                      <a:r>
                        <a:rPr sz="1700" b="1">
                          <a:solidFill>
                            <a:srgbClr val="FFFFFF"/>
                          </a:solidFill>
                          <a:latin typeface="Times New Roman"/>
                        </a:rPr>
                        <a:t>Predicted survival</a:t>
                      </a:r>
                    </a:p>
                  </a:txBody>
                  <a:tcPr marL="73152" marR="73152" anchor="ctr">
                    <a:solidFill>
                      <a:srgbClr val="1C5CAB"/>
                    </a:solidFill>
                  </a:tcPr>
                </a:tc>
                <a:tc>
                  <a:txBody>
                    <a:bodyPr/>
                    <a:lstStyle/>
                    <a:p>
                      <a:r>
                        <a:rPr sz="1700" b="1">
                          <a:solidFill>
                            <a:srgbClr val="FFFFFF"/>
                          </a:solidFill>
                          <a:latin typeface="Times New Roman"/>
                        </a:rPr>
                        <a:t>1st class</a:t>
                      </a:r>
                    </a:p>
                  </a:txBody>
                  <a:tcPr marL="73152" marR="73152" anchor="ctr">
                    <a:solidFill>
                      <a:srgbClr val="1C5CAB"/>
                    </a:solidFill>
                  </a:tcPr>
                </a:tc>
                <a:tc>
                  <a:txBody>
                    <a:bodyPr/>
                    <a:lstStyle/>
                    <a:p>
                      <a:r>
                        <a:rPr sz="1700" b="1">
                          <a:solidFill>
                            <a:srgbClr val="FFFFFF"/>
                          </a:solidFill>
                          <a:latin typeface="Times New Roman"/>
                        </a:rPr>
                        <a:t>2nd class</a:t>
                      </a:r>
                    </a:p>
                  </a:txBody>
                  <a:tcPr marL="73152" marR="73152" anchor="ctr">
                    <a:solidFill>
                      <a:srgbClr val="1C5CAB"/>
                    </a:solidFill>
                  </a:tcPr>
                </a:tc>
                <a:tc>
                  <a:txBody>
                    <a:bodyPr/>
                    <a:lstStyle/>
                    <a:p>
                      <a:r>
                        <a:rPr sz="1700" b="1">
                          <a:solidFill>
                            <a:srgbClr val="FFFFFF"/>
                          </a:solidFill>
                          <a:latin typeface="Times New Roman"/>
                        </a:rPr>
                        <a:t>3rd class</a:t>
                      </a:r>
                    </a:p>
                  </a:txBody>
                  <a:tcPr marL="73152" marR="73152" anchor="ctr">
                    <a:solidFill>
                      <a:srgbClr val="1C5CAB"/>
                    </a:solidFill>
                  </a:tcPr>
                </a:tc>
                <a:extLst>
                  <a:ext uri="{0D108BD9-81ED-4DB2-BD59-A6C34878D82A}">
                    <a16:rowId xmlns:a16="http://schemas.microsoft.com/office/drawing/2014/main" val="10000"/>
                  </a:ext>
                </a:extLst>
              </a:tr>
              <a:tr h="594360">
                <a:tc>
                  <a:txBody>
                    <a:bodyPr/>
                    <a:lstStyle/>
                    <a:p>
                      <a:r>
                        <a:rPr sz="1700" b="0">
                          <a:solidFill>
                            <a:srgbClr val="000000"/>
                          </a:solidFill>
                          <a:latin typeface="Times New Roman"/>
                        </a:rPr>
                        <a:t>Female</a:t>
                      </a:r>
                    </a:p>
                  </a:txBody>
                  <a:tcPr marL="73152" marR="73152" anchor="ctr">
                    <a:solidFill>
                      <a:srgbClr val="FFFFFF"/>
                    </a:solidFill>
                  </a:tcPr>
                </a:tc>
                <a:tc>
                  <a:txBody>
                    <a:bodyPr/>
                    <a:lstStyle/>
                    <a:p>
                      <a:r>
                        <a:rPr sz="1700" b="0">
                          <a:solidFill>
                            <a:srgbClr val="000000"/>
                          </a:solidFill>
                          <a:latin typeface="Times New Roman"/>
                        </a:rPr>
                        <a:t>98%</a:t>
                      </a:r>
                    </a:p>
                  </a:txBody>
                  <a:tcPr marL="73152" marR="73152" anchor="ctr">
                    <a:solidFill>
                      <a:srgbClr val="FFFFFF"/>
                    </a:solidFill>
                  </a:tcPr>
                </a:tc>
                <a:tc>
                  <a:txBody>
                    <a:bodyPr/>
                    <a:lstStyle/>
                    <a:p>
                      <a:r>
                        <a:rPr sz="1700" b="0">
                          <a:solidFill>
                            <a:srgbClr val="000000"/>
                          </a:solidFill>
                          <a:latin typeface="Times New Roman"/>
                        </a:rPr>
                        <a:t>93%</a:t>
                      </a:r>
                    </a:p>
                  </a:txBody>
                  <a:tcPr marL="73152" marR="73152" anchor="ctr">
                    <a:solidFill>
                      <a:srgbClr val="FFFFFF"/>
                    </a:solidFill>
                  </a:tcPr>
                </a:tc>
                <a:tc>
                  <a:txBody>
                    <a:bodyPr/>
                    <a:lstStyle/>
                    <a:p>
                      <a:r>
                        <a:rPr sz="1700" b="0">
                          <a:solidFill>
                            <a:srgbClr val="000000"/>
                          </a:solidFill>
                          <a:latin typeface="Times New Roman"/>
                        </a:rPr>
                        <a:t>41%</a:t>
                      </a:r>
                    </a:p>
                  </a:txBody>
                  <a:tcPr marL="73152" marR="73152" anchor="ctr">
                    <a:solidFill>
                      <a:srgbClr val="FFFFFF"/>
                    </a:solidFill>
                  </a:tcPr>
                </a:tc>
                <a:extLst>
                  <a:ext uri="{0D108BD9-81ED-4DB2-BD59-A6C34878D82A}">
                    <a16:rowId xmlns:a16="http://schemas.microsoft.com/office/drawing/2014/main" val="10001"/>
                  </a:ext>
                </a:extLst>
              </a:tr>
              <a:tr h="594360">
                <a:tc>
                  <a:txBody>
                    <a:bodyPr/>
                    <a:lstStyle/>
                    <a:p>
                      <a:r>
                        <a:rPr sz="1700" b="0">
                          <a:solidFill>
                            <a:srgbClr val="000000"/>
                          </a:solidFill>
                          <a:latin typeface="Times New Roman"/>
                        </a:rPr>
                        <a:t>Male</a:t>
                      </a:r>
                    </a:p>
                  </a:txBody>
                  <a:tcPr marL="73152" marR="73152" anchor="ctr">
                    <a:solidFill>
                      <a:srgbClr val="F1F5FB"/>
                    </a:solidFill>
                  </a:tcPr>
                </a:tc>
                <a:tc>
                  <a:txBody>
                    <a:bodyPr/>
                    <a:lstStyle/>
                    <a:p>
                      <a:r>
                        <a:rPr sz="1700" b="0">
                          <a:solidFill>
                            <a:srgbClr val="000000"/>
                          </a:solidFill>
                          <a:latin typeface="Times New Roman"/>
                        </a:rPr>
                        <a:t>45%</a:t>
                      </a:r>
                    </a:p>
                  </a:txBody>
                  <a:tcPr marL="73152" marR="73152" anchor="ctr">
                    <a:solidFill>
                      <a:srgbClr val="F1F5FB"/>
                    </a:solidFill>
                  </a:tcPr>
                </a:tc>
                <a:tc>
                  <a:txBody>
                    <a:bodyPr/>
                    <a:lstStyle/>
                    <a:p>
                      <a:r>
                        <a:rPr sz="1700" b="0">
                          <a:solidFill>
                            <a:srgbClr val="000000"/>
                          </a:solidFill>
                          <a:latin typeface="Times New Roman"/>
                        </a:rPr>
                        <a:t>13%</a:t>
                      </a:r>
                    </a:p>
                  </a:txBody>
                  <a:tcPr marL="73152" marR="73152" anchor="ctr">
                    <a:solidFill>
                      <a:srgbClr val="F1F5FB"/>
                    </a:solidFill>
                  </a:tcPr>
                </a:tc>
                <a:tc>
                  <a:txBody>
                    <a:bodyPr/>
                    <a:lstStyle/>
                    <a:p>
                      <a:r>
                        <a:rPr sz="1700" b="0">
                          <a:solidFill>
                            <a:srgbClr val="000000"/>
                          </a:solidFill>
                          <a:latin typeface="Times New Roman"/>
                        </a:rPr>
                        <a:t>11%</a:t>
                      </a:r>
                    </a:p>
                  </a:txBody>
                  <a:tcPr marL="73152" marR="73152" anchor="ctr">
                    <a:solidFill>
                      <a:srgbClr val="F1F5FB"/>
                    </a:solidFill>
                  </a:tcPr>
                </a:tc>
                <a:extLst>
                  <a:ext uri="{0D108BD9-81ED-4DB2-BD59-A6C34878D82A}">
                    <a16:rowId xmlns:a16="http://schemas.microsoft.com/office/drawing/2014/main" val="10002"/>
                  </a:ext>
                </a:extLst>
              </a:tr>
            </a:tbl>
          </a:graphicData>
        </a:graphic>
      </p:graphicFrame>
      <p:sp>
        <p:nvSpPr>
          <p:cNvPr id="4" name="TextBox 3"/>
          <p:cNvSpPr txBox="1"/>
          <p:nvPr/>
        </p:nvSpPr>
        <p:spPr>
          <a:xfrm>
            <a:off x="777240" y="3657600"/>
            <a:ext cx="5852160" cy="914400"/>
          </a:xfrm>
          <a:prstGeom prst="rect">
            <a:avLst/>
          </a:prstGeom>
          <a:noFill/>
        </p:spPr>
        <p:txBody>
          <a:bodyPr wrap="square">
            <a:spAutoFit/>
          </a:bodyPr>
          <a:lstStyle/>
          <a:p>
            <a:pPr marL="160020" indent="-160020">
              <a:spcAft>
                <a:spcPts val="800"/>
              </a:spcAft>
              <a:buFont typeface="Arial"/>
              <a:buChar char="•"/>
            </a:pPr>
            <a:r>
              <a:rPr sz="1400" b="0">
                <a:solidFill>
                  <a:srgbClr val="000000"/>
                </a:solidFill>
                <a:latin typeface="Times New Roman"/>
              </a:rPr>
              <a:t>Example passenger: age 30, traveling alone, boarded at Southampton, from the interaction model.</a:t>
            </a:r>
          </a:p>
        </p:txBody>
      </p:sp>
      <p:sp>
        <p:nvSpPr>
          <p:cNvPr id="5" name="TextBox 4"/>
          <p:cNvSpPr txBox="1"/>
          <p:nvPr/>
        </p:nvSpPr>
        <p:spPr>
          <a:xfrm>
            <a:off x="6949440" y="1600200"/>
            <a:ext cx="4800600" cy="4389120"/>
          </a:xfrm>
          <a:prstGeom prst="rect">
            <a:avLst/>
          </a:prstGeom>
          <a:noFill/>
        </p:spPr>
        <p:txBody>
          <a:bodyPr wrap="square">
            <a:spAutoFit/>
          </a:bodyPr>
          <a:lstStyle/>
          <a:p>
            <a:pPr marL="194310" indent="-194310">
              <a:spcAft>
                <a:spcPts val="800"/>
              </a:spcAft>
              <a:buFont typeface="Arial"/>
              <a:buChar char="•"/>
            </a:pPr>
            <a:r>
              <a:rPr sz="1700" b="1">
                <a:solidFill>
                  <a:srgbClr val="000000"/>
                </a:solidFill>
                <a:latin typeface="Times New Roman"/>
              </a:rPr>
              <a:t>Test: </a:t>
            </a:r>
            <a:r>
              <a:rPr sz="1700" b="0">
                <a:solidFill>
                  <a:srgbClr val="000000"/>
                </a:solidFill>
                <a:latin typeface="Times New Roman"/>
              </a:rPr>
              <a:t>adding a sex by class interaction significantly improved the model (likelihood ratio 32.1 on 2 df, p &lt; 0.001).</a:t>
            </a:r>
          </a:p>
          <a:p>
            <a:pPr marL="194310" indent="-194310">
              <a:spcAft>
                <a:spcPts val="800"/>
              </a:spcAft>
              <a:buFont typeface="Arial"/>
              <a:buChar char="•"/>
            </a:pPr>
            <a:r>
              <a:rPr sz="1700" b="1">
                <a:solidFill>
                  <a:srgbClr val="000000"/>
                </a:solidFill>
                <a:latin typeface="Times New Roman"/>
              </a:rPr>
              <a:t>Women: </a:t>
            </a:r>
            <a:r>
              <a:rPr sz="1700" b="0">
                <a:solidFill>
                  <a:srgbClr val="000000"/>
                </a:solidFill>
                <a:latin typeface="Times New Roman"/>
              </a:rPr>
              <a:t>predicted survival drops sharply in third class.</a:t>
            </a:r>
          </a:p>
          <a:p>
            <a:pPr marL="194310" indent="-194310">
              <a:spcAft>
                <a:spcPts val="800"/>
              </a:spcAft>
              <a:buFont typeface="Arial"/>
              <a:buChar char="•"/>
            </a:pPr>
            <a:r>
              <a:rPr sz="1700" b="1">
                <a:solidFill>
                  <a:srgbClr val="000000"/>
                </a:solidFill>
                <a:latin typeface="Times New Roman"/>
              </a:rPr>
              <a:t>Men: </a:t>
            </a:r>
            <a:r>
              <a:rPr sz="1700" b="0">
                <a:solidFill>
                  <a:srgbClr val="000000"/>
                </a:solidFill>
                <a:latin typeface="Times New Roman"/>
              </a:rPr>
              <a:t>the largest drop is between first and second class.</a:t>
            </a:r>
          </a:p>
          <a:p>
            <a:pPr marL="194310" indent="-194310">
              <a:spcAft>
                <a:spcPts val="800"/>
              </a:spcAft>
              <a:buFont typeface="Arial"/>
              <a:buChar char="•"/>
            </a:pPr>
            <a:r>
              <a:rPr sz="1700" b="0">
                <a:solidFill>
                  <a:srgbClr val="000000"/>
                </a:solidFill>
                <a:latin typeface="Times New Roman"/>
              </a:rPr>
              <a:t>This matches the pattern in the sex by class heatmap.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Analyze: Predicting Fare (H8)</a:t>
            </a:r>
          </a:p>
        </p:txBody>
      </p:sp>
      <p:pic>
        <p:nvPicPr>
          <p:cNvPr id="3" name="Picture 2" descr="05_fare_pred.png"/>
          <p:cNvPicPr>
            <a:picLocks noChangeAspect="1"/>
          </p:cNvPicPr>
          <p:nvPr/>
        </p:nvPicPr>
        <p:blipFill>
          <a:blip r:embed="rId2"/>
          <a:stretch>
            <a:fillRect/>
          </a:stretch>
        </p:blipFill>
        <p:spPr>
          <a:xfrm>
            <a:off x="457200" y="1417320"/>
            <a:ext cx="7406640" cy="3207034"/>
          </a:xfrm>
          <a:prstGeom prst="rect">
            <a:avLst/>
          </a:prstGeom>
        </p:spPr>
      </p:pic>
      <p:sp>
        <p:nvSpPr>
          <p:cNvPr id="4" name="TextBox 3"/>
          <p:cNvSpPr txBox="1"/>
          <p:nvPr/>
        </p:nvSpPr>
        <p:spPr>
          <a:xfrm>
            <a:off x="8092440" y="1600200"/>
            <a:ext cx="3657600" cy="4572000"/>
          </a:xfrm>
          <a:prstGeom prst="rect">
            <a:avLst/>
          </a:prstGeom>
          <a:noFill/>
        </p:spPr>
        <p:txBody>
          <a:bodyPr wrap="square">
            <a:spAutoFit/>
          </a:bodyPr>
          <a:lstStyle/>
          <a:p>
            <a:pPr marL="171450" indent="-171450">
              <a:spcAft>
                <a:spcPts val="800"/>
              </a:spcAft>
              <a:buFont typeface="Arial"/>
              <a:buChar char="•"/>
            </a:pPr>
            <a:r>
              <a:rPr sz="1500" b="1">
                <a:solidFill>
                  <a:srgbClr val="000000"/>
                </a:solidFill>
                <a:latin typeface="Times New Roman"/>
              </a:rPr>
              <a:t>Linear regression: </a:t>
            </a:r>
            <a:r>
              <a:rPr sz="1500" b="0">
                <a:solidFill>
                  <a:srgbClr val="000000"/>
                </a:solidFill>
                <a:latin typeface="Times New Roman"/>
              </a:rPr>
              <a:t>R² 0.89, typical error about $14.</a:t>
            </a:r>
          </a:p>
          <a:p>
            <a:pPr marL="171450" indent="-171450">
              <a:spcAft>
                <a:spcPts val="800"/>
              </a:spcAft>
              <a:buFont typeface="Arial"/>
              <a:buChar char="•"/>
            </a:pPr>
            <a:r>
              <a:rPr sz="1500" b="1">
                <a:solidFill>
                  <a:srgbClr val="000000"/>
                </a:solidFill>
                <a:latin typeface="Times New Roman"/>
              </a:rPr>
              <a:t>SVR: </a:t>
            </a:r>
            <a:r>
              <a:rPr sz="1500" b="0">
                <a:solidFill>
                  <a:srgbClr val="000000"/>
                </a:solidFill>
                <a:latin typeface="Times New Roman"/>
              </a:rPr>
              <a:t>R² 0.95, typical error about $8.</a:t>
            </a:r>
          </a:p>
          <a:p>
            <a:pPr marL="171450" indent="-171450">
              <a:spcAft>
                <a:spcPts val="800"/>
              </a:spcAft>
              <a:buFont typeface="Arial"/>
              <a:buChar char="•"/>
            </a:pPr>
            <a:r>
              <a:rPr sz="1500" b="1">
                <a:solidFill>
                  <a:srgbClr val="000000"/>
                </a:solidFill>
                <a:latin typeface="Times New Roman"/>
              </a:rPr>
              <a:t>Baseline (mean): </a:t>
            </a:r>
            <a:r>
              <a:rPr sz="1500" b="0">
                <a:solidFill>
                  <a:srgbClr val="000000"/>
                </a:solidFill>
                <a:latin typeface="Times New Roman"/>
              </a:rPr>
              <a:t>R² about 0.</a:t>
            </a:r>
          </a:p>
          <a:p>
            <a:pPr marL="171450" indent="-171450">
              <a:spcAft>
                <a:spcPts val="800"/>
              </a:spcAft>
              <a:buFont typeface="Arial"/>
              <a:buChar char="•"/>
            </a:pPr>
            <a:r>
              <a:rPr sz="1500" b="1">
                <a:solidFill>
                  <a:srgbClr val="000000"/>
                </a:solidFill>
                <a:latin typeface="Times New Roman"/>
              </a:rPr>
              <a:t>Linear model: </a:t>
            </a:r>
            <a:r>
              <a:rPr sz="1500" b="0">
                <a:solidFill>
                  <a:srgbClr val="000000"/>
                </a:solidFill>
                <a:latin typeface="Times New Roman"/>
              </a:rPr>
              <a:t>3rd-class fares about 76% lower than 1st; larger ticket groups have higher fares.</a:t>
            </a:r>
          </a:p>
          <a:p>
            <a:pPr marL="171450" indent="-171450">
              <a:spcAft>
                <a:spcPts val="800"/>
              </a:spcAft>
              <a:buFont typeface="Arial"/>
              <a:buChar char="•"/>
            </a:pPr>
            <a:r>
              <a:rPr sz="1500" b="0">
                <a:solidFill>
                  <a:srgbClr val="000000"/>
                </a:solidFill>
                <a:latin typeface="Times New Roman"/>
              </a:rPr>
              <a:t>Tested on 284 passengers whose tickets were never seen in training.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Report: Results by Hypothesis</a:t>
            </a:r>
          </a:p>
        </p:txBody>
      </p:sp>
      <p:graphicFrame>
        <p:nvGraphicFramePr>
          <p:cNvPr id="3" name="Table 2"/>
          <p:cNvGraphicFramePr>
            <a:graphicFrameLocks noGrp="1"/>
          </p:cNvGraphicFramePr>
          <p:nvPr/>
        </p:nvGraphicFramePr>
        <p:xfrm>
          <a:off x="777240" y="1508760"/>
          <a:ext cx="10607040" cy="4279392"/>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75488">
                <a:tc>
                  <a:txBody>
                    <a:bodyPr/>
                    <a:lstStyle/>
                    <a:p>
                      <a:endParaRPr/>
                    </a:p>
                  </a:txBody>
                  <a:tcPr marL="73152" marR="73152" anchor="ctr">
                    <a:solidFill>
                      <a:srgbClr val="1C5CAB"/>
                    </a:solidFill>
                  </a:tcPr>
                </a:tc>
                <a:tc>
                  <a:txBody>
                    <a:bodyPr/>
                    <a:lstStyle/>
                    <a:p>
                      <a:r>
                        <a:rPr sz="1400" b="1">
                          <a:solidFill>
                            <a:srgbClr val="FFFFFF"/>
                          </a:solidFill>
                          <a:latin typeface="Times New Roman"/>
                        </a:rPr>
                        <a:t>Hypothesis</a:t>
                      </a:r>
                    </a:p>
                  </a:txBody>
                  <a:tcPr marL="73152" marR="73152" anchor="ctr">
                    <a:solidFill>
                      <a:srgbClr val="1C5CAB"/>
                    </a:solidFill>
                  </a:tcPr>
                </a:tc>
                <a:tc>
                  <a:txBody>
                    <a:bodyPr/>
                    <a:lstStyle/>
                    <a:p>
                      <a:r>
                        <a:rPr sz="1400" b="1">
                          <a:solidFill>
                            <a:srgbClr val="FFFFFF"/>
                          </a:solidFill>
                          <a:latin typeface="Times New Roman"/>
                        </a:rPr>
                        <a:t>Evidence</a:t>
                      </a:r>
                    </a:p>
                  </a:txBody>
                  <a:tcPr marL="73152" marR="73152" anchor="ctr">
                    <a:solidFill>
                      <a:srgbClr val="1C5CAB"/>
                    </a:solidFill>
                  </a:tcPr>
                </a:tc>
                <a:tc>
                  <a:txBody>
                    <a:bodyPr/>
                    <a:lstStyle/>
                    <a:p>
                      <a:r>
                        <a:rPr sz="1400" b="1">
                          <a:solidFill>
                            <a:srgbClr val="FFFFFF"/>
                          </a:solidFill>
                          <a:latin typeface="Times New Roman"/>
                        </a:rPr>
                        <a:t>Result</a:t>
                      </a:r>
                    </a:p>
                  </a:txBody>
                  <a:tcPr marL="73152" marR="73152" anchor="ctr">
                    <a:solidFill>
                      <a:srgbClr val="1C5CAB"/>
                    </a:solidFill>
                  </a:tcPr>
                </a:tc>
                <a:extLst>
                  <a:ext uri="{0D108BD9-81ED-4DB2-BD59-A6C34878D82A}">
                    <a16:rowId xmlns:a16="http://schemas.microsoft.com/office/drawing/2014/main" val="10000"/>
                  </a:ext>
                </a:extLst>
              </a:tr>
              <a:tr h="475488">
                <a:tc>
                  <a:txBody>
                    <a:bodyPr/>
                    <a:lstStyle/>
                    <a:p>
                      <a:r>
                        <a:rPr sz="1400" b="0">
                          <a:solidFill>
                            <a:srgbClr val="000000"/>
                          </a:solidFill>
                          <a:latin typeface="Times New Roman"/>
                        </a:rPr>
                        <a:t>H1</a:t>
                      </a:r>
                    </a:p>
                  </a:txBody>
                  <a:tcPr marL="73152" marR="73152" anchor="ctr">
                    <a:solidFill>
                      <a:srgbClr val="FFFFFF"/>
                    </a:solidFill>
                  </a:tcPr>
                </a:tc>
                <a:tc>
                  <a:txBody>
                    <a:bodyPr/>
                    <a:lstStyle/>
                    <a:p>
                      <a:r>
                        <a:rPr sz="1400" b="0">
                          <a:solidFill>
                            <a:srgbClr val="000000"/>
                          </a:solidFill>
                          <a:latin typeface="Times New Roman"/>
                        </a:rPr>
                        <a:t>Women survived more than men</a:t>
                      </a:r>
                    </a:p>
                  </a:txBody>
                  <a:tcPr marL="73152" marR="73152" anchor="ctr">
                    <a:solidFill>
                      <a:srgbClr val="FFFFFF"/>
                    </a:solidFill>
                  </a:tcPr>
                </a:tc>
                <a:tc>
                  <a:txBody>
                    <a:bodyPr/>
                    <a:lstStyle/>
                    <a:p>
                      <a:r>
                        <a:rPr sz="1400" b="0">
                          <a:solidFill>
                            <a:srgbClr val="000000"/>
                          </a:solidFill>
                          <a:latin typeface="Times New Roman"/>
                        </a:rPr>
                        <a:t>74.2% vs 18.9%; V = 0.54</a:t>
                      </a:r>
                    </a:p>
                  </a:txBody>
                  <a:tcPr marL="73152" marR="73152" anchor="ctr">
                    <a:solidFill>
                      <a:srgbClr val="FFFFFF"/>
                    </a:solidFill>
                  </a:tcPr>
                </a:tc>
                <a:tc>
                  <a:txBody>
                    <a:bodyPr/>
                    <a:lstStyle/>
                    <a:p>
                      <a:r>
                        <a:rPr sz="1400" b="0">
                          <a:solidFill>
                            <a:srgbClr val="000000"/>
                          </a:solidFill>
                          <a:latin typeface="Times New Roman"/>
                        </a:rPr>
                        <a:t>Supported</a:t>
                      </a:r>
                    </a:p>
                  </a:txBody>
                  <a:tcPr marL="73152" marR="73152" anchor="ctr">
                    <a:solidFill>
                      <a:srgbClr val="FFFFFF"/>
                    </a:solidFill>
                  </a:tcPr>
                </a:tc>
                <a:extLst>
                  <a:ext uri="{0D108BD9-81ED-4DB2-BD59-A6C34878D82A}">
                    <a16:rowId xmlns:a16="http://schemas.microsoft.com/office/drawing/2014/main" val="10001"/>
                  </a:ext>
                </a:extLst>
              </a:tr>
              <a:tr h="475488">
                <a:tc>
                  <a:txBody>
                    <a:bodyPr/>
                    <a:lstStyle/>
                    <a:p>
                      <a:r>
                        <a:rPr sz="1400" b="0">
                          <a:solidFill>
                            <a:srgbClr val="000000"/>
                          </a:solidFill>
                          <a:latin typeface="Times New Roman"/>
                        </a:rPr>
                        <a:t>H2</a:t>
                      </a:r>
                    </a:p>
                  </a:txBody>
                  <a:tcPr marL="73152" marR="73152" anchor="ctr">
                    <a:solidFill>
                      <a:srgbClr val="F1F5FB"/>
                    </a:solidFill>
                  </a:tcPr>
                </a:tc>
                <a:tc>
                  <a:txBody>
                    <a:bodyPr/>
                    <a:lstStyle/>
                    <a:p>
                      <a:r>
                        <a:rPr sz="1400" b="0">
                          <a:solidFill>
                            <a:srgbClr val="000000"/>
                          </a:solidFill>
                          <a:latin typeface="Times New Roman"/>
                        </a:rPr>
                        <a:t>Survival falls from 1st to 3rd class</a:t>
                      </a:r>
                    </a:p>
                  </a:txBody>
                  <a:tcPr marL="73152" marR="73152" anchor="ctr">
                    <a:solidFill>
                      <a:srgbClr val="F1F5FB"/>
                    </a:solidFill>
                  </a:tcPr>
                </a:tc>
                <a:tc>
                  <a:txBody>
                    <a:bodyPr/>
                    <a:lstStyle/>
                    <a:p>
                      <a:r>
                        <a:rPr sz="1400" b="0">
                          <a:solidFill>
                            <a:srgbClr val="000000"/>
                          </a:solidFill>
                          <a:latin typeface="Times New Roman"/>
                        </a:rPr>
                        <a:t>63.0% / 47.3% / 24.2%; V = 0.34</a:t>
                      </a:r>
                    </a:p>
                  </a:txBody>
                  <a:tcPr marL="73152" marR="73152" anchor="ctr">
                    <a:solidFill>
                      <a:srgbClr val="F1F5FB"/>
                    </a:solidFill>
                  </a:tcPr>
                </a:tc>
                <a:tc>
                  <a:txBody>
                    <a:bodyPr/>
                    <a:lstStyle/>
                    <a:p>
                      <a:r>
                        <a:rPr sz="1400" b="0">
                          <a:solidFill>
                            <a:srgbClr val="000000"/>
                          </a:solidFill>
                          <a:latin typeface="Times New Roman"/>
                        </a:rPr>
                        <a:t>Supported</a:t>
                      </a:r>
                    </a:p>
                  </a:txBody>
                  <a:tcPr marL="73152" marR="73152" anchor="ctr">
                    <a:solidFill>
                      <a:srgbClr val="F1F5FB"/>
                    </a:solidFill>
                  </a:tcPr>
                </a:tc>
                <a:extLst>
                  <a:ext uri="{0D108BD9-81ED-4DB2-BD59-A6C34878D82A}">
                    <a16:rowId xmlns:a16="http://schemas.microsoft.com/office/drawing/2014/main" val="10002"/>
                  </a:ext>
                </a:extLst>
              </a:tr>
              <a:tr h="475488">
                <a:tc>
                  <a:txBody>
                    <a:bodyPr/>
                    <a:lstStyle/>
                    <a:p>
                      <a:r>
                        <a:rPr sz="1400" b="0">
                          <a:solidFill>
                            <a:srgbClr val="000000"/>
                          </a:solidFill>
                          <a:latin typeface="Times New Roman"/>
                        </a:rPr>
                        <a:t>H3</a:t>
                      </a:r>
                    </a:p>
                  </a:txBody>
                  <a:tcPr marL="73152" marR="73152" anchor="ctr">
                    <a:solidFill>
                      <a:srgbClr val="FFFFFF"/>
                    </a:solidFill>
                  </a:tcPr>
                </a:tc>
                <a:tc>
                  <a:txBody>
                    <a:bodyPr/>
                    <a:lstStyle/>
                    <a:p>
                      <a:r>
                        <a:rPr sz="1400" b="0">
                          <a:solidFill>
                            <a:srgbClr val="000000"/>
                          </a:solidFill>
                          <a:latin typeface="Times New Roman"/>
                        </a:rPr>
                        <a:t>Women ahead inside every class</a:t>
                      </a:r>
                    </a:p>
                  </a:txBody>
                  <a:tcPr marL="73152" marR="73152" anchor="ctr">
                    <a:solidFill>
                      <a:srgbClr val="FFFFFF"/>
                    </a:solidFill>
                  </a:tcPr>
                </a:tc>
                <a:tc>
                  <a:txBody>
                    <a:bodyPr/>
                    <a:lstStyle/>
                    <a:p>
                      <a:r>
                        <a:rPr sz="1400" b="0">
                          <a:solidFill>
                            <a:srgbClr val="000000"/>
                          </a:solidFill>
                          <a:latin typeface="Times New Roman"/>
                        </a:rPr>
                        <a:t>All 3 classes; 3rd-class women (50%) beat 1st-class men (37%)</a:t>
                      </a:r>
                    </a:p>
                  </a:txBody>
                  <a:tcPr marL="73152" marR="73152" anchor="ctr">
                    <a:solidFill>
                      <a:srgbClr val="FFFFFF"/>
                    </a:solidFill>
                  </a:tcPr>
                </a:tc>
                <a:tc>
                  <a:txBody>
                    <a:bodyPr/>
                    <a:lstStyle/>
                    <a:p>
                      <a:r>
                        <a:rPr sz="1400" b="0">
                          <a:solidFill>
                            <a:srgbClr val="000000"/>
                          </a:solidFill>
                          <a:latin typeface="Times New Roman"/>
                        </a:rPr>
                        <a:t>Supported</a:t>
                      </a:r>
                    </a:p>
                  </a:txBody>
                  <a:tcPr marL="73152" marR="73152" anchor="ctr">
                    <a:solidFill>
                      <a:srgbClr val="FFFFFF"/>
                    </a:solidFill>
                  </a:tcPr>
                </a:tc>
                <a:extLst>
                  <a:ext uri="{0D108BD9-81ED-4DB2-BD59-A6C34878D82A}">
                    <a16:rowId xmlns:a16="http://schemas.microsoft.com/office/drawing/2014/main" val="10003"/>
                  </a:ext>
                </a:extLst>
              </a:tr>
              <a:tr h="475488">
                <a:tc>
                  <a:txBody>
                    <a:bodyPr/>
                    <a:lstStyle/>
                    <a:p>
                      <a:r>
                        <a:rPr sz="1400" b="0">
                          <a:solidFill>
                            <a:srgbClr val="000000"/>
                          </a:solidFill>
                          <a:latin typeface="Times New Roman"/>
                        </a:rPr>
                        <a:t>H4</a:t>
                      </a:r>
                    </a:p>
                  </a:txBody>
                  <a:tcPr marL="73152" marR="73152" anchor="ctr">
                    <a:solidFill>
                      <a:srgbClr val="F1F5FB"/>
                    </a:solidFill>
                  </a:tcPr>
                </a:tc>
                <a:tc>
                  <a:txBody>
                    <a:bodyPr/>
                    <a:lstStyle/>
                    <a:p>
                      <a:r>
                        <a:rPr sz="1400" b="0">
                          <a:solidFill>
                            <a:srgbClr val="000000"/>
                          </a:solidFill>
                          <a:latin typeface="Times New Roman"/>
                        </a:rPr>
                        <a:t>Sex associated after adjustment</a:t>
                      </a:r>
                    </a:p>
                  </a:txBody>
                  <a:tcPr marL="73152" marR="73152" anchor="ctr">
                    <a:solidFill>
                      <a:srgbClr val="F1F5FB"/>
                    </a:solidFill>
                  </a:tcPr>
                </a:tc>
                <a:tc>
                  <a:txBody>
                    <a:bodyPr/>
                    <a:lstStyle/>
                    <a:p>
                      <a:r>
                        <a:rPr sz="1400" b="0">
                          <a:solidFill>
                            <a:srgbClr val="000000"/>
                          </a:solidFill>
                          <a:latin typeface="Times New Roman"/>
                        </a:rPr>
                        <a:t>OR 15.1 (95% CI 10.1 to 22.6)</a:t>
                      </a:r>
                    </a:p>
                  </a:txBody>
                  <a:tcPr marL="73152" marR="73152" anchor="ctr">
                    <a:solidFill>
                      <a:srgbClr val="F1F5FB"/>
                    </a:solidFill>
                  </a:tcPr>
                </a:tc>
                <a:tc>
                  <a:txBody>
                    <a:bodyPr/>
                    <a:lstStyle/>
                    <a:p>
                      <a:r>
                        <a:rPr sz="1400" b="0">
                          <a:solidFill>
                            <a:srgbClr val="000000"/>
                          </a:solidFill>
                          <a:latin typeface="Times New Roman"/>
                        </a:rPr>
                        <a:t>Supported</a:t>
                      </a:r>
                    </a:p>
                  </a:txBody>
                  <a:tcPr marL="73152" marR="73152" anchor="ctr">
                    <a:solidFill>
                      <a:srgbClr val="F1F5FB"/>
                    </a:solidFill>
                  </a:tcPr>
                </a:tc>
                <a:extLst>
                  <a:ext uri="{0D108BD9-81ED-4DB2-BD59-A6C34878D82A}">
                    <a16:rowId xmlns:a16="http://schemas.microsoft.com/office/drawing/2014/main" val="10004"/>
                  </a:ext>
                </a:extLst>
              </a:tr>
              <a:tr h="475488">
                <a:tc>
                  <a:txBody>
                    <a:bodyPr/>
                    <a:lstStyle/>
                    <a:p>
                      <a:r>
                        <a:rPr sz="1400" b="0">
                          <a:solidFill>
                            <a:srgbClr val="000000"/>
                          </a:solidFill>
                          <a:latin typeface="Times New Roman"/>
                        </a:rPr>
                        <a:t>H5</a:t>
                      </a:r>
                    </a:p>
                  </a:txBody>
                  <a:tcPr marL="73152" marR="73152" anchor="ctr">
                    <a:solidFill>
                      <a:srgbClr val="FFFFFF"/>
                    </a:solidFill>
                  </a:tcPr>
                </a:tc>
                <a:tc>
                  <a:txBody>
                    <a:bodyPr/>
                    <a:lstStyle/>
                    <a:p>
                      <a:r>
                        <a:rPr sz="1400" b="0">
                          <a:solidFill>
                            <a:srgbClr val="000000"/>
                          </a:solidFill>
                          <a:latin typeface="Times New Roman"/>
                        </a:rPr>
                        <a:t>Class associated after adjustment</a:t>
                      </a:r>
                    </a:p>
                  </a:txBody>
                  <a:tcPr marL="73152" marR="73152" anchor="ctr">
                    <a:solidFill>
                      <a:srgbClr val="FFFFFF"/>
                    </a:solidFill>
                  </a:tcPr>
                </a:tc>
                <a:tc>
                  <a:txBody>
                    <a:bodyPr/>
                    <a:lstStyle/>
                    <a:p>
                      <a:r>
                        <a:rPr sz="1400" b="0">
                          <a:solidFill>
                            <a:srgbClr val="000000"/>
                          </a:solidFill>
                          <a:latin typeface="Times New Roman"/>
                        </a:rPr>
                        <a:t>3rd vs 1st OR 0.09 (95% CI 0.05 to 0.16)</a:t>
                      </a:r>
                    </a:p>
                  </a:txBody>
                  <a:tcPr marL="73152" marR="73152" anchor="ctr">
                    <a:solidFill>
                      <a:srgbClr val="FFFFFF"/>
                    </a:solidFill>
                  </a:tcPr>
                </a:tc>
                <a:tc>
                  <a:txBody>
                    <a:bodyPr/>
                    <a:lstStyle/>
                    <a:p>
                      <a:r>
                        <a:rPr sz="1400" b="0">
                          <a:solidFill>
                            <a:srgbClr val="000000"/>
                          </a:solidFill>
                          <a:latin typeface="Times New Roman"/>
                        </a:rPr>
                        <a:t>Supported</a:t>
                      </a:r>
                    </a:p>
                  </a:txBody>
                  <a:tcPr marL="73152" marR="73152" anchor="ctr">
                    <a:solidFill>
                      <a:srgbClr val="FFFFFF"/>
                    </a:solidFill>
                  </a:tcPr>
                </a:tc>
                <a:extLst>
                  <a:ext uri="{0D108BD9-81ED-4DB2-BD59-A6C34878D82A}">
                    <a16:rowId xmlns:a16="http://schemas.microsoft.com/office/drawing/2014/main" val="10005"/>
                  </a:ext>
                </a:extLst>
              </a:tr>
              <a:tr h="475488">
                <a:tc>
                  <a:txBody>
                    <a:bodyPr/>
                    <a:lstStyle/>
                    <a:p>
                      <a:r>
                        <a:rPr sz="1400" b="0">
                          <a:solidFill>
                            <a:srgbClr val="000000"/>
                          </a:solidFill>
                          <a:latin typeface="Times New Roman"/>
                        </a:rPr>
                        <a:t>H6</a:t>
                      </a:r>
                    </a:p>
                  </a:txBody>
                  <a:tcPr marL="73152" marR="73152" anchor="ctr">
                    <a:solidFill>
                      <a:srgbClr val="F1F5FB"/>
                    </a:solidFill>
                  </a:tcPr>
                </a:tc>
                <a:tc>
                  <a:txBody>
                    <a:bodyPr/>
                    <a:lstStyle/>
                    <a:p>
                      <a:r>
                        <a:rPr sz="1400" b="0">
                          <a:solidFill>
                            <a:srgbClr val="000000"/>
                          </a:solidFill>
                          <a:latin typeface="Times New Roman"/>
                        </a:rPr>
                        <a:t>Sex gap differs by class</a:t>
                      </a:r>
                    </a:p>
                  </a:txBody>
                  <a:tcPr marL="73152" marR="73152" anchor="ctr">
                    <a:solidFill>
                      <a:srgbClr val="F1F5FB"/>
                    </a:solidFill>
                  </a:tcPr>
                </a:tc>
                <a:tc>
                  <a:txBody>
                    <a:bodyPr/>
                    <a:lstStyle/>
                    <a:p>
                      <a:r>
                        <a:rPr sz="1400" b="0">
                          <a:solidFill>
                            <a:srgbClr val="000000"/>
                          </a:solidFill>
                          <a:latin typeface="Times New Roman"/>
                        </a:rPr>
                        <a:t>Interaction LR test p &lt; 0.001</a:t>
                      </a:r>
                    </a:p>
                  </a:txBody>
                  <a:tcPr marL="73152" marR="73152" anchor="ctr">
                    <a:solidFill>
                      <a:srgbClr val="F1F5FB"/>
                    </a:solidFill>
                  </a:tcPr>
                </a:tc>
                <a:tc>
                  <a:txBody>
                    <a:bodyPr/>
                    <a:lstStyle/>
                    <a:p>
                      <a:r>
                        <a:rPr sz="1400" b="0">
                          <a:solidFill>
                            <a:srgbClr val="000000"/>
                          </a:solidFill>
                          <a:latin typeface="Times New Roman"/>
                        </a:rPr>
                        <a:t>Supported</a:t>
                      </a:r>
                    </a:p>
                  </a:txBody>
                  <a:tcPr marL="73152" marR="73152" anchor="ctr">
                    <a:solidFill>
                      <a:srgbClr val="F1F5FB"/>
                    </a:solidFill>
                  </a:tcPr>
                </a:tc>
                <a:extLst>
                  <a:ext uri="{0D108BD9-81ED-4DB2-BD59-A6C34878D82A}">
                    <a16:rowId xmlns:a16="http://schemas.microsoft.com/office/drawing/2014/main" val="10006"/>
                  </a:ext>
                </a:extLst>
              </a:tr>
              <a:tr h="475488">
                <a:tc>
                  <a:txBody>
                    <a:bodyPr/>
                    <a:lstStyle/>
                    <a:p>
                      <a:r>
                        <a:rPr sz="1400" b="0">
                          <a:solidFill>
                            <a:srgbClr val="000000"/>
                          </a:solidFill>
                          <a:latin typeface="Times New Roman"/>
                        </a:rPr>
                        <a:t>H7</a:t>
                      </a:r>
                    </a:p>
                  </a:txBody>
                  <a:tcPr marL="73152" marR="73152" anchor="ctr">
                    <a:solidFill>
                      <a:srgbClr val="FFFFFF"/>
                    </a:solidFill>
                  </a:tcPr>
                </a:tc>
                <a:tc>
                  <a:txBody>
                    <a:bodyPr/>
                    <a:lstStyle/>
                    <a:p>
                      <a:r>
                        <a:rPr sz="1400" b="0">
                          <a:solidFill>
                            <a:srgbClr val="000000"/>
                          </a:solidFill>
                          <a:latin typeface="Times New Roman"/>
                        </a:rPr>
                        <a:t>Models beat the baseline</a:t>
                      </a:r>
                    </a:p>
                  </a:txBody>
                  <a:tcPr marL="73152" marR="73152" anchor="ctr">
                    <a:solidFill>
                      <a:srgbClr val="FFFFFF"/>
                    </a:solidFill>
                  </a:tcPr>
                </a:tc>
                <a:tc>
                  <a:txBody>
                    <a:bodyPr/>
                    <a:lstStyle/>
                    <a:p>
                      <a:r>
                        <a:rPr sz="1400" b="0">
                          <a:solidFill>
                            <a:srgbClr val="000000"/>
                          </a:solidFill>
                          <a:latin typeface="Times New Roman"/>
                        </a:rPr>
                        <a:t>78.8% to 84.4% vs 61.5% baseline</a:t>
                      </a:r>
                    </a:p>
                  </a:txBody>
                  <a:tcPr marL="73152" marR="73152" anchor="ctr">
                    <a:solidFill>
                      <a:srgbClr val="FFFFFF"/>
                    </a:solidFill>
                  </a:tcPr>
                </a:tc>
                <a:tc>
                  <a:txBody>
                    <a:bodyPr/>
                    <a:lstStyle/>
                    <a:p>
                      <a:r>
                        <a:rPr sz="1400" b="0">
                          <a:solidFill>
                            <a:srgbClr val="000000"/>
                          </a:solidFill>
                          <a:latin typeface="Times New Roman"/>
                        </a:rPr>
                        <a:t>Supported</a:t>
                      </a:r>
                    </a:p>
                  </a:txBody>
                  <a:tcPr marL="73152" marR="73152" anchor="ctr">
                    <a:solidFill>
                      <a:srgbClr val="FFFFFF"/>
                    </a:solidFill>
                  </a:tcPr>
                </a:tc>
                <a:extLst>
                  <a:ext uri="{0D108BD9-81ED-4DB2-BD59-A6C34878D82A}">
                    <a16:rowId xmlns:a16="http://schemas.microsoft.com/office/drawing/2014/main" val="10007"/>
                  </a:ext>
                </a:extLst>
              </a:tr>
              <a:tr h="475488">
                <a:tc>
                  <a:txBody>
                    <a:bodyPr/>
                    <a:lstStyle/>
                    <a:p>
                      <a:r>
                        <a:rPr sz="1400" b="0">
                          <a:solidFill>
                            <a:srgbClr val="000000"/>
                          </a:solidFill>
                          <a:latin typeface="Times New Roman"/>
                        </a:rPr>
                        <a:t>H8</a:t>
                      </a:r>
                    </a:p>
                  </a:txBody>
                  <a:tcPr marL="73152" marR="73152" anchor="ctr">
                    <a:solidFill>
                      <a:srgbClr val="F1F5FB"/>
                    </a:solidFill>
                  </a:tcPr>
                </a:tc>
                <a:tc>
                  <a:txBody>
                    <a:bodyPr/>
                    <a:lstStyle/>
                    <a:p>
                      <a:r>
                        <a:rPr sz="1400" b="0">
                          <a:solidFill>
                            <a:srgbClr val="000000"/>
                          </a:solidFill>
                          <a:latin typeface="Times New Roman"/>
                        </a:rPr>
                        <a:t>Fare is predictable</a:t>
                      </a:r>
                    </a:p>
                  </a:txBody>
                  <a:tcPr marL="73152" marR="73152" anchor="ctr">
                    <a:solidFill>
                      <a:srgbClr val="F1F5FB"/>
                    </a:solidFill>
                  </a:tcPr>
                </a:tc>
                <a:tc>
                  <a:txBody>
                    <a:bodyPr/>
                    <a:lstStyle/>
                    <a:p>
                      <a:r>
                        <a:rPr sz="1400" b="0">
                          <a:solidFill>
                            <a:srgbClr val="000000"/>
                          </a:solidFill>
                          <a:latin typeface="Times New Roman"/>
                        </a:rPr>
                        <a:t>R² 0.89 (linear), 0.95 (SVR)</a:t>
                      </a:r>
                    </a:p>
                  </a:txBody>
                  <a:tcPr marL="73152" marR="73152" anchor="ctr">
                    <a:solidFill>
                      <a:srgbClr val="F1F5FB"/>
                    </a:solidFill>
                  </a:tcPr>
                </a:tc>
                <a:tc>
                  <a:txBody>
                    <a:bodyPr/>
                    <a:lstStyle/>
                    <a:p>
                      <a:r>
                        <a:rPr sz="1400" b="0">
                          <a:solidFill>
                            <a:srgbClr val="000000"/>
                          </a:solidFill>
                          <a:latin typeface="Times New Roman"/>
                        </a:rPr>
                        <a:t>Supported</a:t>
                      </a:r>
                    </a:p>
                  </a:txBody>
                  <a:tcPr marL="73152" marR="73152" anchor="ctr">
                    <a:solidFill>
                      <a:srgbClr val="F1F5FB"/>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Report: Key Findings and Limitations</a:t>
            </a:r>
          </a:p>
        </p:txBody>
      </p:sp>
      <p:sp>
        <p:nvSpPr>
          <p:cNvPr id="3" name="Content Placeholder 2"/>
          <p:cNvSpPr>
            <a:spLocks noGrp="1"/>
          </p:cNvSpPr>
          <p:nvPr>
            <p:ph idx="1"/>
          </p:nvPr>
        </p:nvSpPr>
        <p:spPr/>
        <p:txBody>
          <a:bodyPr/>
          <a:lstStyle/>
          <a:p>
            <a:pPr>
              <a:spcAft>
                <a:spcPts val="1000"/>
              </a:spcAft>
            </a:pPr>
            <a:r>
              <a:rPr sz="1900" b="1">
                <a:solidFill>
                  <a:srgbClr val="000000"/>
                </a:solidFill>
                <a:latin typeface="Times New Roman"/>
              </a:rPr>
              <a:t>One variable at a time: </a:t>
            </a:r>
            <a:r>
              <a:rPr sz="1900" b="0">
                <a:solidFill>
                  <a:srgbClr val="000000"/>
                </a:solidFill>
                <a:latin typeface="Times New Roman"/>
              </a:rPr>
              <a:t>sex and class showed the strongest associations with survival (Cramer's V 0.54 and 0.34); fare and port mostly tracked class.</a:t>
            </a:r>
          </a:p>
          <a:p>
            <a:pPr>
              <a:spcAft>
                <a:spcPts val="1000"/>
              </a:spcAft>
            </a:pPr>
            <a:r>
              <a:rPr sz="1900" b="1">
                <a:solidFill>
                  <a:srgbClr val="000000"/>
                </a:solidFill>
                <a:latin typeface="Times New Roman"/>
              </a:rPr>
              <a:t>Evaluated together: </a:t>
            </a:r>
            <a:r>
              <a:rPr sz="1900" b="0">
                <a:solidFill>
                  <a:srgbClr val="000000"/>
                </a:solidFill>
                <a:latin typeface="Times New Roman"/>
              </a:rPr>
              <a:t>sex and class each remain significantly associated with survival, and the size of the sex gap depends on class. Port and small family size are not significant after adjustment.</a:t>
            </a:r>
          </a:p>
          <a:p>
            <a:pPr>
              <a:spcAft>
                <a:spcPts val="1000"/>
              </a:spcAft>
            </a:pPr>
            <a:r>
              <a:rPr sz="1900" b="1">
                <a:solidFill>
                  <a:srgbClr val="000000"/>
                </a:solidFill>
                <a:latin typeface="Times New Roman"/>
              </a:rPr>
              <a:t>Prediction: </a:t>
            </a:r>
            <a:r>
              <a:rPr sz="1900" b="0">
                <a:solidFill>
                  <a:srgbClr val="000000"/>
                </a:solidFill>
                <a:latin typeface="Times New Roman"/>
              </a:rPr>
              <a:t>survival predicted at 78% to 84% test accuracy against a 61.5% baseline.</a:t>
            </a:r>
          </a:p>
          <a:p>
            <a:pPr>
              <a:spcAft>
                <a:spcPts val="1000"/>
              </a:spcAft>
            </a:pPr>
            <a:r>
              <a:rPr sz="1900" b="1">
                <a:solidFill>
                  <a:srgbClr val="000000"/>
                </a:solidFill>
                <a:latin typeface="Times New Roman"/>
              </a:rPr>
              <a:t>Limitations: </a:t>
            </a:r>
            <a:r>
              <a:rPr sz="1900" b="0">
                <a:solidFill>
                  <a:srgbClr val="000000"/>
                </a:solidFill>
                <a:latin typeface="Times New Roman"/>
              </a:rPr>
              <a:t>associations, not causes; about 20% of ages imputed; 179 test passengers; 891 of about 2,200 people aboard.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Act: Scoring the 418 Holdout Passengers</a:t>
            </a:r>
          </a:p>
        </p:txBody>
      </p:sp>
      <p:pic>
        <p:nvPicPr>
          <p:cNvPr id="3" name="Picture 2" descr="06_holdout.png"/>
          <p:cNvPicPr>
            <a:picLocks noChangeAspect="1"/>
          </p:cNvPicPr>
          <p:nvPr/>
        </p:nvPicPr>
        <p:blipFill>
          <a:blip r:embed="rId2"/>
          <a:stretch>
            <a:fillRect/>
          </a:stretch>
        </p:blipFill>
        <p:spPr>
          <a:xfrm>
            <a:off x="502920" y="1463040"/>
            <a:ext cx="11155680" cy="2953996"/>
          </a:xfrm>
          <a:prstGeom prst="rect">
            <a:avLst/>
          </a:prstGeom>
        </p:spPr>
      </p:pic>
      <p:sp>
        <p:nvSpPr>
          <p:cNvPr id="4" name="TextBox 3"/>
          <p:cNvSpPr txBox="1"/>
          <p:nvPr/>
        </p:nvSpPr>
        <p:spPr>
          <a:xfrm>
            <a:off x="548640" y="4572000"/>
            <a:ext cx="11064240" cy="1828800"/>
          </a:xfrm>
          <a:prstGeom prst="rect">
            <a:avLst/>
          </a:prstGeom>
          <a:noFill/>
        </p:spPr>
        <p:txBody>
          <a:bodyPr wrap="square">
            <a:spAutoFit/>
          </a:bodyPr>
          <a:lstStyle/>
          <a:p>
            <a:pPr marL="171450" indent="-171450">
              <a:spcAft>
                <a:spcPts val="800"/>
              </a:spcAft>
              <a:buFont typeface="Arial"/>
              <a:buChar char="•"/>
            </a:pPr>
            <a:r>
              <a:rPr sz="1500" b="0">
                <a:solidFill>
                  <a:srgbClr val="000000"/>
                </a:solidFill>
                <a:latin typeface="Times New Roman"/>
              </a:rPr>
              <a:t>Logistic regression with Title, refit on all 891 labeled passengers, expects about 41% of holdout passengers survived (38.4% observed in the labeled set).</a:t>
            </a:r>
          </a:p>
          <a:p>
            <a:pPr marL="171450" indent="-171450">
              <a:spcAft>
                <a:spcPts val="800"/>
              </a:spcAft>
              <a:buFont typeface="Arial"/>
              <a:buChar char="•"/>
            </a:pPr>
            <a:r>
              <a:rPr sz="1500" b="0">
                <a:solidFill>
                  <a:srgbClr val="000000"/>
                </a:solidFill>
                <a:latin typeface="Times New Roman"/>
              </a:rPr>
              <a:t>Average probabilities follow the observed sex and class pattern. Yes/no labels exaggerate it because each probability is rounded at 0.5.</a:t>
            </a:r>
          </a:p>
          <a:p>
            <a:pPr marL="171450" indent="-171450">
              <a:spcAft>
                <a:spcPts val="800"/>
              </a:spcAft>
              <a:buFont typeface="Arial"/>
              <a:buChar char="•"/>
            </a:pPr>
            <a:r>
              <a:rPr sz="1500" b="0">
                <a:solidFill>
                  <a:srgbClr val="000000"/>
                </a:solidFill>
                <a:latin typeface="Times New Roman"/>
              </a:rPr>
              <a:t>Logistic regression and the SVM give the same label for 92% of passengers. Predictions are saved for checking if outcomes become available.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Act: Checking the 17 Zero Fares</a:t>
            </a:r>
          </a:p>
        </p:txBody>
      </p:sp>
      <p:graphicFrame>
        <p:nvGraphicFramePr>
          <p:cNvPr id="3" name="Table 2"/>
          <p:cNvGraphicFramePr>
            <a:graphicFrameLocks noGrp="1"/>
          </p:cNvGraphicFramePr>
          <p:nvPr/>
        </p:nvGraphicFramePr>
        <p:xfrm>
          <a:off x="548640" y="1600200"/>
          <a:ext cx="6583680" cy="30632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502920">
                <a:tc>
                  <a:txBody>
                    <a:bodyPr/>
                    <a:lstStyle/>
                    <a:p>
                      <a:r>
                        <a:rPr sz="1500" b="1">
                          <a:solidFill>
                            <a:srgbClr val="FFFFFF"/>
                          </a:solidFill>
                          <a:latin typeface="Times New Roman"/>
                        </a:rPr>
                        <a:t>Class</a:t>
                      </a:r>
                    </a:p>
                  </a:txBody>
                  <a:tcPr marL="73152" marR="73152" anchor="ctr">
                    <a:solidFill>
                      <a:srgbClr val="1C5CAB"/>
                    </a:solidFill>
                  </a:tcPr>
                </a:tc>
                <a:tc>
                  <a:txBody>
                    <a:bodyPr/>
                    <a:lstStyle/>
                    <a:p>
                      <a:r>
                        <a:rPr sz="1500" b="1">
                          <a:solidFill>
                            <a:srgbClr val="FFFFFF"/>
                          </a:solidFill>
                          <a:latin typeface="Times New Roman"/>
                        </a:rPr>
                        <a:t>Ticket group</a:t>
                      </a:r>
                    </a:p>
                  </a:txBody>
                  <a:tcPr marL="73152" marR="73152" anchor="ctr">
                    <a:solidFill>
                      <a:srgbClr val="1C5CAB"/>
                    </a:solidFill>
                  </a:tcPr>
                </a:tc>
                <a:tc>
                  <a:txBody>
                    <a:bodyPr/>
                    <a:lstStyle/>
                    <a:p>
                      <a:r>
                        <a:rPr sz="1500" b="1">
                          <a:solidFill>
                            <a:srgbClr val="FFFFFF"/>
                          </a:solidFill>
                          <a:latin typeface="Times New Roman"/>
                        </a:rPr>
                        <a:t>Passengers</a:t>
                      </a:r>
                    </a:p>
                  </a:txBody>
                  <a:tcPr marL="73152" marR="73152" anchor="ctr">
                    <a:solidFill>
                      <a:srgbClr val="1C5CAB"/>
                    </a:solidFill>
                  </a:tcPr>
                </a:tc>
                <a:tc>
                  <a:txBody>
                    <a:bodyPr/>
                    <a:lstStyle/>
                    <a:p>
                      <a:r>
                        <a:rPr sz="1500" b="1">
                          <a:solidFill>
                            <a:srgbClr val="FFFFFF"/>
                          </a:solidFill>
                          <a:latin typeface="Times New Roman"/>
                        </a:rPr>
                        <a:t>Model estimate</a:t>
                      </a:r>
                    </a:p>
                  </a:txBody>
                  <a:tcPr marL="73152" marR="73152" anchor="ctr">
                    <a:solidFill>
                      <a:srgbClr val="1C5CAB"/>
                    </a:solidFill>
                  </a:tcPr>
                </a:tc>
                <a:tc>
                  <a:txBody>
                    <a:bodyPr/>
                    <a:lstStyle/>
                    <a:p>
                      <a:r>
                        <a:rPr sz="1500" b="1">
                          <a:solidFill>
                            <a:srgbClr val="FFFFFF"/>
                          </a:solidFill>
                          <a:latin typeface="Times New Roman"/>
                        </a:rPr>
                        <a:t>Similar paid tickets</a:t>
                      </a:r>
                    </a:p>
                  </a:txBody>
                  <a:tcPr marL="73152" marR="73152" anchor="ctr">
                    <a:solidFill>
                      <a:srgbClr val="1C5CAB"/>
                    </a:solidFill>
                  </a:tcPr>
                </a:tc>
                <a:extLst>
                  <a:ext uri="{0D108BD9-81ED-4DB2-BD59-A6C34878D82A}">
                    <a16:rowId xmlns:a16="http://schemas.microsoft.com/office/drawing/2014/main" val="10000"/>
                  </a:ext>
                </a:extLst>
              </a:tr>
              <a:tr h="502920">
                <a:tc>
                  <a:txBody>
                    <a:bodyPr/>
                    <a:lstStyle/>
                    <a:p>
                      <a:r>
                        <a:rPr sz="1500" b="0">
                          <a:solidFill>
                            <a:srgbClr val="000000"/>
                          </a:solidFill>
                          <a:latin typeface="Times New Roman"/>
                        </a:rPr>
                        <a:t>1st</a:t>
                      </a:r>
                    </a:p>
                  </a:txBody>
                  <a:tcPr marL="73152" marR="73152" anchor="ctr">
                    <a:solidFill>
                      <a:srgbClr val="FFFFFF"/>
                    </a:solidFill>
                  </a:tcPr>
                </a:tc>
                <a:tc>
                  <a:txBody>
                    <a:bodyPr/>
                    <a:lstStyle/>
                    <a:p>
                      <a:r>
                        <a:rPr sz="1500" b="0">
                          <a:solidFill>
                            <a:srgbClr val="000000"/>
                          </a:solidFill>
                          <a:latin typeface="Times New Roman"/>
                        </a:rPr>
                        <a:t>1</a:t>
                      </a:r>
                    </a:p>
                  </a:txBody>
                  <a:tcPr marL="73152" marR="73152" anchor="ctr">
                    <a:solidFill>
                      <a:srgbClr val="FFFFFF"/>
                    </a:solidFill>
                  </a:tcPr>
                </a:tc>
                <a:tc>
                  <a:txBody>
                    <a:bodyPr/>
                    <a:lstStyle/>
                    <a:p>
                      <a:r>
                        <a:rPr sz="1500" b="0">
                          <a:solidFill>
                            <a:srgbClr val="000000"/>
                          </a:solidFill>
                          <a:latin typeface="Times New Roman"/>
                        </a:rPr>
                        <a:t>5</a:t>
                      </a:r>
                    </a:p>
                  </a:txBody>
                  <a:tcPr marL="73152" marR="73152" anchor="ctr">
                    <a:solidFill>
                      <a:srgbClr val="FFFFFF"/>
                    </a:solidFill>
                  </a:tcPr>
                </a:tc>
                <a:tc>
                  <a:txBody>
                    <a:bodyPr/>
                    <a:lstStyle/>
                    <a:p>
                      <a:r>
                        <a:rPr sz="1500" b="0">
                          <a:solidFill>
                            <a:srgbClr val="000000"/>
                          </a:solidFill>
                          <a:latin typeface="Times New Roman"/>
                        </a:rPr>
                        <a:t>$27.52</a:t>
                      </a:r>
                    </a:p>
                  </a:txBody>
                  <a:tcPr marL="73152" marR="73152" anchor="ctr">
                    <a:solidFill>
                      <a:srgbClr val="FFFFFF"/>
                    </a:solidFill>
                  </a:tcPr>
                </a:tc>
                <a:tc>
                  <a:txBody>
                    <a:bodyPr/>
                    <a:lstStyle/>
                    <a:p>
                      <a:r>
                        <a:rPr sz="1500" b="0">
                          <a:solidFill>
                            <a:srgbClr val="000000"/>
                          </a:solidFill>
                          <a:latin typeface="Times New Roman"/>
                        </a:rPr>
                        <a:t>$27.81</a:t>
                      </a:r>
                    </a:p>
                  </a:txBody>
                  <a:tcPr marL="73152" marR="73152" anchor="ctr">
                    <a:solidFill>
                      <a:srgbClr val="FFFFFF"/>
                    </a:solidFill>
                  </a:tcPr>
                </a:tc>
                <a:extLst>
                  <a:ext uri="{0D108BD9-81ED-4DB2-BD59-A6C34878D82A}">
                    <a16:rowId xmlns:a16="http://schemas.microsoft.com/office/drawing/2014/main" val="10001"/>
                  </a:ext>
                </a:extLst>
              </a:tr>
              <a:tr h="502920">
                <a:tc>
                  <a:txBody>
                    <a:bodyPr/>
                    <a:lstStyle/>
                    <a:p>
                      <a:r>
                        <a:rPr sz="1500" b="0">
                          <a:solidFill>
                            <a:srgbClr val="000000"/>
                          </a:solidFill>
                          <a:latin typeface="Times New Roman"/>
                        </a:rPr>
                        <a:t>1st</a:t>
                      </a:r>
                    </a:p>
                  </a:txBody>
                  <a:tcPr marL="73152" marR="73152" anchor="ctr">
                    <a:solidFill>
                      <a:srgbClr val="F1F5FB"/>
                    </a:solidFill>
                  </a:tcPr>
                </a:tc>
                <a:tc>
                  <a:txBody>
                    <a:bodyPr/>
                    <a:lstStyle/>
                    <a:p>
                      <a:r>
                        <a:rPr sz="1500" b="0">
                          <a:solidFill>
                            <a:srgbClr val="000000"/>
                          </a:solidFill>
                          <a:latin typeface="Times New Roman"/>
                        </a:rPr>
                        <a:t>2</a:t>
                      </a:r>
                    </a:p>
                  </a:txBody>
                  <a:tcPr marL="73152" marR="73152" anchor="ctr">
                    <a:solidFill>
                      <a:srgbClr val="F1F5FB"/>
                    </a:solidFill>
                  </a:tcPr>
                </a:tc>
                <a:tc>
                  <a:txBody>
                    <a:bodyPr/>
                    <a:lstStyle/>
                    <a:p>
                      <a:r>
                        <a:rPr sz="1500" b="0">
                          <a:solidFill>
                            <a:srgbClr val="000000"/>
                          </a:solidFill>
                          <a:latin typeface="Times New Roman"/>
                        </a:rPr>
                        <a:t>2</a:t>
                      </a:r>
                    </a:p>
                  </a:txBody>
                  <a:tcPr marL="73152" marR="73152" anchor="ctr">
                    <a:solidFill>
                      <a:srgbClr val="F1F5FB"/>
                    </a:solidFill>
                  </a:tcPr>
                </a:tc>
                <a:tc>
                  <a:txBody>
                    <a:bodyPr/>
                    <a:lstStyle/>
                    <a:p>
                      <a:r>
                        <a:rPr sz="1500" b="0">
                          <a:solidFill>
                            <a:srgbClr val="000000"/>
                          </a:solidFill>
                          <a:latin typeface="Times New Roman"/>
                        </a:rPr>
                        <a:t>$54.78</a:t>
                      </a:r>
                    </a:p>
                  </a:txBody>
                  <a:tcPr marL="73152" marR="73152" anchor="ctr">
                    <a:solidFill>
                      <a:srgbClr val="F1F5FB"/>
                    </a:solidFill>
                  </a:tcPr>
                </a:tc>
                <a:tc>
                  <a:txBody>
                    <a:bodyPr/>
                    <a:lstStyle/>
                    <a:p>
                      <a:r>
                        <a:rPr sz="1500" b="0">
                          <a:solidFill>
                            <a:srgbClr val="000000"/>
                          </a:solidFill>
                          <a:latin typeface="Times New Roman"/>
                        </a:rPr>
                        <a:t>$60.59</a:t>
                      </a:r>
                    </a:p>
                  </a:txBody>
                  <a:tcPr marL="73152" marR="73152" anchor="ctr">
                    <a:solidFill>
                      <a:srgbClr val="F1F5FB"/>
                    </a:solidFill>
                  </a:tcPr>
                </a:tc>
                <a:extLst>
                  <a:ext uri="{0D108BD9-81ED-4DB2-BD59-A6C34878D82A}">
                    <a16:rowId xmlns:a16="http://schemas.microsoft.com/office/drawing/2014/main" val="10002"/>
                  </a:ext>
                </a:extLst>
              </a:tr>
              <a:tr h="502920">
                <a:tc>
                  <a:txBody>
                    <a:bodyPr/>
                    <a:lstStyle/>
                    <a:p>
                      <a:r>
                        <a:rPr sz="1500" b="0">
                          <a:solidFill>
                            <a:srgbClr val="000000"/>
                          </a:solidFill>
                          <a:latin typeface="Times New Roman"/>
                        </a:rPr>
                        <a:t>2nd</a:t>
                      </a:r>
                    </a:p>
                  </a:txBody>
                  <a:tcPr marL="73152" marR="73152" anchor="ctr">
                    <a:solidFill>
                      <a:srgbClr val="FFFFFF"/>
                    </a:solidFill>
                  </a:tcPr>
                </a:tc>
                <a:tc>
                  <a:txBody>
                    <a:bodyPr/>
                    <a:lstStyle/>
                    <a:p>
                      <a:r>
                        <a:rPr sz="1500" b="0">
                          <a:solidFill>
                            <a:srgbClr val="000000"/>
                          </a:solidFill>
                          <a:latin typeface="Times New Roman"/>
                        </a:rPr>
                        <a:t>1</a:t>
                      </a:r>
                    </a:p>
                  </a:txBody>
                  <a:tcPr marL="73152" marR="73152" anchor="ctr">
                    <a:solidFill>
                      <a:srgbClr val="FFFFFF"/>
                    </a:solidFill>
                  </a:tcPr>
                </a:tc>
                <a:tc>
                  <a:txBody>
                    <a:bodyPr/>
                    <a:lstStyle/>
                    <a:p>
                      <a:r>
                        <a:rPr sz="1500" b="0">
                          <a:solidFill>
                            <a:srgbClr val="000000"/>
                          </a:solidFill>
                          <a:latin typeface="Times New Roman"/>
                        </a:rPr>
                        <a:t>3</a:t>
                      </a:r>
                    </a:p>
                  </a:txBody>
                  <a:tcPr marL="73152" marR="73152" anchor="ctr">
                    <a:solidFill>
                      <a:srgbClr val="FFFFFF"/>
                    </a:solidFill>
                  </a:tcPr>
                </a:tc>
                <a:tc>
                  <a:txBody>
                    <a:bodyPr/>
                    <a:lstStyle/>
                    <a:p>
                      <a:r>
                        <a:rPr sz="1500" b="0">
                          <a:solidFill>
                            <a:srgbClr val="000000"/>
                          </a:solidFill>
                          <a:latin typeface="Times New Roman"/>
                        </a:rPr>
                        <a:t>$12.52</a:t>
                      </a:r>
                    </a:p>
                  </a:txBody>
                  <a:tcPr marL="73152" marR="73152" anchor="ctr">
                    <a:solidFill>
                      <a:srgbClr val="FFFFFF"/>
                    </a:solidFill>
                  </a:tcPr>
                </a:tc>
                <a:tc>
                  <a:txBody>
                    <a:bodyPr/>
                    <a:lstStyle/>
                    <a:p>
                      <a:r>
                        <a:rPr sz="1500" b="0">
                          <a:solidFill>
                            <a:srgbClr val="000000"/>
                          </a:solidFill>
                          <a:latin typeface="Times New Roman"/>
                        </a:rPr>
                        <a:t>$13.00</a:t>
                      </a:r>
                    </a:p>
                  </a:txBody>
                  <a:tcPr marL="73152" marR="73152" anchor="ctr">
                    <a:solidFill>
                      <a:srgbClr val="FFFFFF"/>
                    </a:solidFill>
                  </a:tcPr>
                </a:tc>
                <a:extLst>
                  <a:ext uri="{0D108BD9-81ED-4DB2-BD59-A6C34878D82A}">
                    <a16:rowId xmlns:a16="http://schemas.microsoft.com/office/drawing/2014/main" val="10003"/>
                  </a:ext>
                </a:extLst>
              </a:tr>
              <a:tr h="502920">
                <a:tc>
                  <a:txBody>
                    <a:bodyPr/>
                    <a:lstStyle/>
                    <a:p>
                      <a:r>
                        <a:rPr sz="1500" b="0">
                          <a:solidFill>
                            <a:srgbClr val="000000"/>
                          </a:solidFill>
                          <a:latin typeface="Times New Roman"/>
                        </a:rPr>
                        <a:t>2nd</a:t>
                      </a:r>
                    </a:p>
                  </a:txBody>
                  <a:tcPr marL="73152" marR="73152" anchor="ctr">
                    <a:solidFill>
                      <a:srgbClr val="F1F5FB"/>
                    </a:solidFill>
                  </a:tcPr>
                </a:tc>
                <a:tc>
                  <a:txBody>
                    <a:bodyPr/>
                    <a:lstStyle/>
                    <a:p>
                      <a:r>
                        <a:rPr sz="1500" b="0">
                          <a:solidFill>
                            <a:srgbClr val="000000"/>
                          </a:solidFill>
                          <a:latin typeface="Times New Roman"/>
                        </a:rPr>
                        <a:t>3</a:t>
                      </a:r>
                    </a:p>
                  </a:txBody>
                  <a:tcPr marL="73152" marR="73152" anchor="ctr">
                    <a:solidFill>
                      <a:srgbClr val="F1F5FB"/>
                    </a:solidFill>
                  </a:tcPr>
                </a:tc>
                <a:tc>
                  <a:txBody>
                    <a:bodyPr/>
                    <a:lstStyle/>
                    <a:p>
                      <a:r>
                        <a:rPr sz="1500" b="0">
                          <a:solidFill>
                            <a:srgbClr val="000000"/>
                          </a:solidFill>
                          <a:latin typeface="Times New Roman"/>
                        </a:rPr>
                        <a:t>3</a:t>
                      </a:r>
                    </a:p>
                  </a:txBody>
                  <a:tcPr marL="73152" marR="73152" anchor="ctr">
                    <a:solidFill>
                      <a:srgbClr val="F1F5FB"/>
                    </a:solidFill>
                  </a:tcPr>
                </a:tc>
                <a:tc>
                  <a:txBody>
                    <a:bodyPr/>
                    <a:lstStyle/>
                    <a:p>
                      <a:r>
                        <a:rPr sz="1500" b="0">
                          <a:solidFill>
                            <a:srgbClr val="000000"/>
                          </a:solidFill>
                          <a:latin typeface="Times New Roman"/>
                        </a:rPr>
                        <a:t>$37.54</a:t>
                      </a:r>
                    </a:p>
                  </a:txBody>
                  <a:tcPr marL="73152" marR="73152" anchor="ctr">
                    <a:solidFill>
                      <a:srgbClr val="F1F5FB"/>
                    </a:solidFill>
                  </a:tcPr>
                </a:tc>
                <a:tc>
                  <a:txBody>
                    <a:bodyPr/>
                    <a:lstStyle/>
                    <a:p>
                      <a:r>
                        <a:rPr sz="1500" b="0">
                          <a:solidFill>
                            <a:srgbClr val="000000"/>
                          </a:solidFill>
                          <a:latin typeface="Times New Roman"/>
                        </a:rPr>
                        <a:t>$29.00</a:t>
                      </a:r>
                    </a:p>
                  </a:txBody>
                  <a:tcPr marL="73152" marR="73152" anchor="ctr">
                    <a:solidFill>
                      <a:srgbClr val="F1F5FB"/>
                    </a:solidFill>
                  </a:tcPr>
                </a:tc>
                <a:extLst>
                  <a:ext uri="{0D108BD9-81ED-4DB2-BD59-A6C34878D82A}">
                    <a16:rowId xmlns:a16="http://schemas.microsoft.com/office/drawing/2014/main" val="10004"/>
                  </a:ext>
                </a:extLst>
              </a:tr>
              <a:tr h="502920">
                <a:tc>
                  <a:txBody>
                    <a:bodyPr/>
                    <a:lstStyle/>
                    <a:p>
                      <a:r>
                        <a:rPr sz="1500" b="0">
                          <a:solidFill>
                            <a:srgbClr val="000000"/>
                          </a:solidFill>
                          <a:latin typeface="Times New Roman"/>
                        </a:rPr>
                        <a:t>3rd</a:t>
                      </a:r>
                    </a:p>
                  </a:txBody>
                  <a:tcPr marL="73152" marR="73152" anchor="ctr">
                    <a:solidFill>
                      <a:srgbClr val="FFFFFF"/>
                    </a:solidFill>
                  </a:tcPr>
                </a:tc>
                <a:tc>
                  <a:txBody>
                    <a:bodyPr/>
                    <a:lstStyle/>
                    <a:p>
                      <a:r>
                        <a:rPr sz="1500" b="0">
                          <a:solidFill>
                            <a:srgbClr val="000000"/>
                          </a:solidFill>
                          <a:latin typeface="Times New Roman"/>
                        </a:rPr>
                        <a:t>4</a:t>
                      </a:r>
                    </a:p>
                  </a:txBody>
                  <a:tcPr marL="73152" marR="73152" anchor="ctr">
                    <a:solidFill>
                      <a:srgbClr val="FFFFFF"/>
                    </a:solidFill>
                  </a:tcPr>
                </a:tc>
                <a:tc>
                  <a:txBody>
                    <a:bodyPr/>
                    <a:lstStyle/>
                    <a:p>
                      <a:r>
                        <a:rPr sz="1500" b="0">
                          <a:solidFill>
                            <a:srgbClr val="000000"/>
                          </a:solidFill>
                          <a:latin typeface="Times New Roman"/>
                        </a:rPr>
                        <a:t>4</a:t>
                      </a:r>
                    </a:p>
                  </a:txBody>
                  <a:tcPr marL="73152" marR="73152" anchor="ctr">
                    <a:solidFill>
                      <a:srgbClr val="FFFFFF"/>
                    </a:solidFill>
                  </a:tcPr>
                </a:tc>
                <a:tc>
                  <a:txBody>
                    <a:bodyPr/>
                    <a:lstStyle/>
                    <a:p>
                      <a:r>
                        <a:rPr sz="1500" b="0">
                          <a:solidFill>
                            <a:srgbClr val="000000"/>
                          </a:solidFill>
                          <a:latin typeface="Times New Roman"/>
                        </a:rPr>
                        <a:t>$33.14</a:t>
                      </a:r>
                    </a:p>
                  </a:txBody>
                  <a:tcPr marL="73152" marR="73152" anchor="ctr">
                    <a:solidFill>
                      <a:srgbClr val="FFFFFF"/>
                    </a:solidFill>
                  </a:tcPr>
                </a:tc>
                <a:tc>
                  <a:txBody>
                    <a:bodyPr/>
                    <a:lstStyle/>
                    <a:p>
                      <a:r>
                        <a:rPr sz="1500" b="0">
                          <a:solidFill>
                            <a:srgbClr val="000000"/>
                          </a:solidFill>
                          <a:latin typeface="Times New Roman"/>
                        </a:rPr>
                        <a:t>$20.58</a:t>
                      </a:r>
                    </a:p>
                  </a:txBody>
                  <a:tcPr marL="73152" marR="73152" anchor="ctr">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7406640" y="1554480"/>
            <a:ext cx="4343400" cy="4572000"/>
          </a:xfrm>
          <a:prstGeom prst="rect">
            <a:avLst/>
          </a:prstGeom>
          <a:noFill/>
        </p:spPr>
        <p:txBody>
          <a:bodyPr wrap="square">
            <a:spAutoFit/>
          </a:bodyPr>
          <a:lstStyle/>
          <a:p>
            <a:pPr marL="182880" indent="-182880">
              <a:spcAft>
                <a:spcPts val="800"/>
              </a:spcAft>
              <a:buFont typeface="Arial"/>
              <a:buChar char="•"/>
            </a:pPr>
            <a:r>
              <a:rPr sz="1600" b="1">
                <a:solidFill>
                  <a:srgbClr val="000000"/>
                </a:solidFill>
                <a:latin typeface="Times New Roman"/>
              </a:rPr>
              <a:t>Goal: </a:t>
            </a:r>
            <a:r>
              <a:rPr sz="1600" b="0">
                <a:solidFill>
                  <a:srgbClr val="000000"/>
                </a:solidFill>
                <a:latin typeface="Times New Roman"/>
              </a:rPr>
              <a:t>estimate what a comparable paid ticket cost. It does not say what these passengers paid or why their fare was 0.</a:t>
            </a:r>
          </a:p>
          <a:p>
            <a:pPr marL="182880" indent="-182880">
              <a:spcAft>
                <a:spcPts val="800"/>
              </a:spcAft>
              <a:buFont typeface="Arial"/>
              <a:buChar char="•"/>
            </a:pPr>
            <a:r>
              <a:rPr sz="1600" b="1">
                <a:solidFill>
                  <a:srgbClr val="000000"/>
                </a:solidFill>
                <a:latin typeface="Times New Roman"/>
              </a:rPr>
              <a:t>Result: </a:t>
            </a:r>
            <a:r>
              <a:rPr sz="1600" b="0">
                <a:solidFill>
                  <a:srgbClr val="000000"/>
                </a:solidFill>
                <a:latin typeface="Times New Roman"/>
              </a:rPr>
              <a:t>8 of 17 estimates are within $1 of similar paid tickets, and 2 more are about $6 low.</a:t>
            </a:r>
          </a:p>
          <a:p>
            <a:pPr marL="182880" indent="-182880">
              <a:spcAft>
                <a:spcPts val="800"/>
              </a:spcAft>
              <a:buFont typeface="Arial"/>
              <a:buChar char="•"/>
            </a:pPr>
            <a:r>
              <a:rPr sz="1600" b="1">
                <a:solidFill>
                  <a:srgbClr val="000000"/>
                </a:solidFill>
                <a:latin typeface="Times New Roman"/>
              </a:rPr>
              <a:t>Misses: </a:t>
            </a:r>
            <a:r>
              <a:rPr sz="1600" b="0">
                <a:solidFill>
                  <a:srgbClr val="000000"/>
                </a:solidFill>
                <a:latin typeface="Times New Roman"/>
              </a:rPr>
              <a:t>the model runs about $9 to $13 high for solo travelers on shared tickets, a combination rare in the training data.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Connecting to the Problem</a:t>
            </a:r>
          </a:p>
        </p:txBody>
      </p:sp>
      <p:sp>
        <p:nvSpPr>
          <p:cNvPr id="3" name="Content Placeholder 2"/>
          <p:cNvSpPr>
            <a:spLocks noGrp="1"/>
          </p:cNvSpPr>
          <p:nvPr>
            <p:ph idx="1"/>
          </p:nvPr>
        </p:nvSpPr>
        <p:spPr/>
        <p:txBody>
          <a:bodyPr/>
          <a:lstStyle/>
          <a:p>
            <a:pPr>
              <a:spcAft>
                <a:spcPts val="1000"/>
              </a:spcAft>
            </a:pPr>
            <a:r>
              <a:rPr sz="1900" b="1">
                <a:solidFill>
                  <a:srgbClr val="000000"/>
                </a:solidFill>
                <a:latin typeface="Times New Roman"/>
              </a:rPr>
              <a:t>Which characteristics: </a:t>
            </a:r>
            <a:r>
              <a:rPr sz="1900" b="0">
                <a:solidFill>
                  <a:srgbClr val="000000"/>
                </a:solidFill>
                <a:latin typeface="Times New Roman"/>
              </a:rPr>
              <a:t>sex and class, with age and large family size as smaller factors; port and fare mostly reflected class.</a:t>
            </a:r>
          </a:p>
          <a:p>
            <a:pPr>
              <a:spcAft>
                <a:spcPts val="1000"/>
              </a:spcAft>
            </a:pPr>
            <a:r>
              <a:rPr sz="1900" b="1">
                <a:solidFill>
                  <a:srgbClr val="000000"/>
                </a:solidFill>
                <a:latin typeface="Times New Roman"/>
              </a:rPr>
              <a:t>Do they hold together: </a:t>
            </a:r>
            <a:r>
              <a:rPr sz="1900" b="0">
                <a:solidFill>
                  <a:srgbClr val="000000"/>
                </a:solidFill>
                <a:latin typeface="Times New Roman"/>
              </a:rPr>
              <a:t>yes for sex and class, and the size of the sex gap depends on class.</a:t>
            </a:r>
          </a:p>
          <a:p>
            <a:pPr>
              <a:spcAft>
                <a:spcPts val="1000"/>
              </a:spcAft>
            </a:pPr>
            <a:r>
              <a:rPr sz="1900" b="1">
                <a:solidFill>
                  <a:srgbClr val="000000"/>
                </a:solidFill>
                <a:latin typeface="Times New Roman"/>
              </a:rPr>
              <a:t>How accurately: </a:t>
            </a:r>
            <a:r>
              <a:rPr sz="1900" b="0">
                <a:solidFill>
                  <a:srgbClr val="000000"/>
                </a:solidFill>
                <a:latin typeface="Times New Roman"/>
              </a:rPr>
              <a:t>about 84% test accuracy with logistic regression and Title, close to the SVM.</a:t>
            </a:r>
          </a:p>
          <a:p>
            <a:pPr>
              <a:spcAft>
                <a:spcPts val="1000"/>
              </a:spcAft>
            </a:pPr>
            <a:r>
              <a:rPr sz="1900" b="1">
                <a:solidFill>
                  <a:srgbClr val="000000"/>
                </a:solidFill>
                <a:latin typeface="Times New Roman"/>
              </a:rPr>
              <a:t>Next steps: </a:t>
            </a:r>
            <a:r>
              <a:rPr sz="1900" b="0">
                <a:solidFill>
                  <a:srgbClr val="000000"/>
                </a:solidFill>
                <a:latin typeface="Times New Roman"/>
              </a:rPr>
              <a:t>repeated cross-validation, the interaction inside the pipelines, and age imputation inside the pipeline.</a:t>
            </a:r>
          </a:p>
          <a:p>
            <a:pPr>
              <a:spcAft>
                <a:spcPts val="1000"/>
              </a:spcAft>
            </a:pPr>
            <a:r>
              <a:rPr sz="1900" b="1">
                <a:solidFill>
                  <a:srgbClr val="000000"/>
                </a:solidFill>
                <a:latin typeface="Times New Roman"/>
              </a:rPr>
              <a:t>Notebooks and data: </a:t>
            </a:r>
            <a:r>
              <a:rPr sz="1900" b="0">
                <a:solidFill>
                  <a:srgbClr val="000000"/>
                </a:solidFill>
                <a:latin typeface="Times New Roman"/>
              </a:rPr>
              <a:t>github.com/OrangeJoe0421 (ANA-500-MP1, ANA-500-MP2, ANA-500-MP3)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2845</Words>
  <Application>Microsoft Office PowerPoint</Application>
  <PresentationFormat>Widescreen</PresentationFormat>
  <Paragraphs>328</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Office Theme</vt:lpstr>
      <vt:lpstr>Titanic Passenger Survival Micro-Project 3 (Micro-Projects 1 to 3) https://github.com/OrangeJoe0421/ANA-500-MP3</vt:lpstr>
      <vt:lpstr>Problem Statement</vt:lpstr>
      <vt:lpstr>Hypothesis Formulation</vt:lpstr>
      <vt:lpstr>Acquire</vt:lpstr>
      <vt:lpstr>Prepare: Explore</vt:lpstr>
      <vt:lpstr>Prepare: Clean and Transform</vt:lpstr>
      <vt:lpstr>Prepare: Validate and Result</vt:lpstr>
      <vt:lpstr>Prepare: Revisiting the Missing Ports</vt:lpstr>
      <vt:lpstr>Prepare: Building the Analysis Set</vt:lpstr>
      <vt:lpstr>Prepare: Features, Encoding, and Split</vt:lpstr>
      <vt:lpstr>Analyze: Visual Analysis Techniques</vt:lpstr>
      <vt:lpstr>Analyze: Survival by Sex and Class</vt:lpstr>
      <vt:lpstr>Analyze: Sex and Class Together</vt:lpstr>
      <vt:lpstr>Analyze: Age</vt:lpstr>
      <vt:lpstr>Analyze: Family Size</vt:lpstr>
      <vt:lpstr>Analyze: Fare and Port Reflect Class</vt:lpstr>
      <vt:lpstr>Analyze: Statistical Checks</vt:lpstr>
      <vt:lpstr>Analyze: Modeling Techniques</vt:lpstr>
      <vt:lpstr>Analyze: Survival Models vs Baseline</vt:lpstr>
      <vt:lpstr>Analyze: Where the Models Miss</vt:lpstr>
      <vt:lpstr>Analyze: Iteration with Title</vt:lpstr>
      <vt:lpstr>Analyze: Adjusted Odds Ratios (H4, H5)</vt:lpstr>
      <vt:lpstr>Analyze: The Sex Gap Differs by Class (H6)</vt:lpstr>
      <vt:lpstr>Analyze: Predicting Fare (H8)</vt:lpstr>
      <vt:lpstr>Report: Results by Hypothesis</vt:lpstr>
      <vt:lpstr>Report: Key Findings and Limitations</vt:lpstr>
      <vt:lpstr>Act: Scoring the 418 Holdout Passengers</vt:lpstr>
      <vt:lpstr>Act: Checking the 17 Zero Fares</vt:lpstr>
      <vt:lpstr>Act: Connecting to the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Title&gt; &lt;Micro-Project #&gt;</dc:title>
  <dc:creator>Emmanuel J Rodriguez</dc:creator>
  <cp:lastModifiedBy>Travis James</cp:lastModifiedBy>
  <cp:revision>2</cp:revision>
  <dcterms:created xsi:type="dcterms:W3CDTF">2022-03-01T22:05:03Z</dcterms:created>
  <dcterms:modified xsi:type="dcterms:W3CDTF">2026-10-04T21:56:59Z</dcterms:modified>
</cp:coreProperties>
</file>