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5" r:id="rId17"/>
    <p:sldId id="264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2900701-4350-46B0-B667-6B406B94FF7B}" v="3" dt="2022-03-01T23:50:13.3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64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14" Type="http://schemas.microsoft.com/office/2016/11/relationships/changesInfo" Target="changesInfos/changesInfo1.xml"/>  <Relationship Id="rId16" Type="http://schemas.openxmlformats.org/officeDocument/2006/relationships/slide" Target="slides/slide9.xml"/>
  <Relationship Id="rId17" Type="http://schemas.openxmlformats.org/officeDocument/2006/relationships/slide" Target="slides/slide10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manuel J Rodriguez" userId="2e21cfcd93492766" providerId="LiveId" clId="{22900701-4350-46B0-B667-6B406B94FF7B}"/>
    <pc:docChg chg="custSel addSld modSld">
      <pc:chgData name="Emmanuel J Rodriguez" userId="2e21cfcd93492766" providerId="LiveId" clId="{22900701-4350-46B0-B667-6B406B94FF7B}" dt="2022-03-01T23:50:57.963" v="172" actId="20577"/>
      <pc:docMkLst>
        <pc:docMk/>
      </pc:docMkLst>
      <pc:sldChg chg="modSp mod">
        <pc:chgData name="Emmanuel J Rodriguez" userId="2e21cfcd93492766" providerId="LiveId" clId="{22900701-4350-46B0-B667-6B406B94FF7B}" dt="2022-03-01T23:23:22.375" v="31" actId="20577"/>
        <pc:sldMkLst>
          <pc:docMk/>
          <pc:sldMk cId="3651251486" sldId="256"/>
        </pc:sldMkLst>
        <pc:spChg chg="mod">
          <ac:chgData name="Emmanuel J Rodriguez" userId="2e21cfcd93492766" providerId="LiveId" clId="{22900701-4350-46B0-B667-6B406B94FF7B}" dt="2022-03-01T23:23:22.375" v="31" actId="20577"/>
          <ac:spMkLst>
            <pc:docMk/>
            <pc:sldMk cId="3651251486" sldId="256"/>
            <ac:spMk id="2" creationId="{9FEFD3DB-B193-4E72-861B-FE835A2E1FAD}"/>
          </ac:spMkLst>
        </pc:spChg>
      </pc:sldChg>
      <pc:sldChg chg="modSp mod">
        <pc:chgData name="Emmanuel J Rodriguez" userId="2e21cfcd93492766" providerId="LiveId" clId="{22900701-4350-46B0-B667-6B406B94FF7B}" dt="2022-03-01T23:47:58.759" v="95" actId="20577"/>
        <pc:sldMkLst>
          <pc:docMk/>
          <pc:sldMk cId="1880678406" sldId="257"/>
        </pc:sldMkLst>
        <pc:spChg chg="mod">
          <ac:chgData name="Emmanuel J Rodriguez" userId="2e21cfcd93492766" providerId="LiveId" clId="{22900701-4350-46B0-B667-6B406B94FF7B}" dt="2022-03-01T23:33:50.150" v="54" actId="20577"/>
          <ac:spMkLst>
            <pc:docMk/>
            <pc:sldMk cId="1880678406" sldId="257"/>
            <ac:spMk id="2" creationId="{8B8302AB-CEDA-4E89-A1DC-6BABC9C3F7D4}"/>
          </ac:spMkLst>
        </pc:spChg>
        <pc:spChg chg="mod">
          <ac:chgData name="Emmanuel J Rodriguez" userId="2e21cfcd93492766" providerId="LiveId" clId="{22900701-4350-46B0-B667-6B406B94FF7B}" dt="2022-03-01T23:47:58.759" v="95" actId="20577"/>
          <ac:spMkLst>
            <pc:docMk/>
            <pc:sldMk cId="1880678406" sldId="257"/>
            <ac:spMk id="3" creationId="{05AD07EA-4B74-4BFA-A23D-5147B6A28FC4}"/>
          </ac:spMkLst>
        </pc:spChg>
      </pc:sldChg>
      <pc:sldChg chg="modSp new mod">
        <pc:chgData name="Emmanuel J Rodriguez" userId="2e21cfcd93492766" providerId="LiveId" clId="{22900701-4350-46B0-B667-6B406B94FF7B}" dt="2022-03-01T23:47:53.999" v="93" actId="20577"/>
        <pc:sldMkLst>
          <pc:docMk/>
          <pc:sldMk cId="3306958798" sldId="258"/>
        </pc:sldMkLst>
        <pc:spChg chg="mod">
          <ac:chgData name="Emmanuel J Rodriguez" userId="2e21cfcd93492766" providerId="LiveId" clId="{22900701-4350-46B0-B667-6B406B94FF7B}" dt="2022-03-01T23:34:18.821" v="86" actId="20577"/>
          <ac:spMkLst>
            <pc:docMk/>
            <pc:sldMk cId="3306958798" sldId="258"/>
            <ac:spMk id="2" creationId="{FF29C91F-7913-4D5C-A911-ADD4837DAA00}"/>
          </ac:spMkLst>
        </pc:spChg>
        <pc:spChg chg="mod">
          <ac:chgData name="Emmanuel J Rodriguez" userId="2e21cfcd93492766" providerId="LiveId" clId="{22900701-4350-46B0-B667-6B406B94FF7B}" dt="2022-03-01T23:47:53.999" v="93" actId="20577"/>
          <ac:spMkLst>
            <pc:docMk/>
            <pc:sldMk cId="3306958798" sldId="258"/>
            <ac:spMk id="3" creationId="{905A42CE-FCD3-41B9-A629-5F3C6031F3C0}"/>
          </ac:spMkLst>
        </pc:spChg>
      </pc:sldChg>
      <pc:sldChg chg="modSp new mod">
        <pc:chgData name="Emmanuel J Rodriguez" userId="2e21cfcd93492766" providerId="LiveId" clId="{22900701-4350-46B0-B667-6B406B94FF7B}" dt="2022-03-01T23:49:17.883" v="106" actId="20577"/>
        <pc:sldMkLst>
          <pc:docMk/>
          <pc:sldMk cId="427023157" sldId="259"/>
        </pc:sldMkLst>
        <pc:spChg chg="mod">
          <ac:chgData name="Emmanuel J Rodriguez" userId="2e21cfcd93492766" providerId="LiveId" clId="{22900701-4350-46B0-B667-6B406B94FF7B}" dt="2022-03-01T23:49:03.966" v="103" actId="20577"/>
          <ac:spMkLst>
            <pc:docMk/>
            <pc:sldMk cId="427023157" sldId="259"/>
            <ac:spMk id="2" creationId="{DB2A7252-6823-44F9-B464-D7A15D12BB65}"/>
          </ac:spMkLst>
        </pc:spChg>
        <pc:spChg chg="mod">
          <ac:chgData name="Emmanuel J Rodriguez" userId="2e21cfcd93492766" providerId="LiveId" clId="{22900701-4350-46B0-B667-6B406B94FF7B}" dt="2022-03-01T23:49:17.883" v="106" actId="20577"/>
          <ac:spMkLst>
            <pc:docMk/>
            <pc:sldMk cId="427023157" sldId="259"/>
            <ac:spMk id="3" creationId="{7FEAE391-6366-4E20-A14E-0ECFAEA8029A}"/>
          </ac:spMkLst>
        </pc:spChg>
      </pc:sldChg>
      <pc:sldChg chg="modSp add mod">
        <pc:chgData name="Emmanuel J Rodriguez" userId="2e21cfcd93492766" providerId="LiveId" clId="{22900701-4350-46B0-B667-6B406B94FF7B}" dt="2022-03-01T23:49:42.228" v="115"/>
        <pc:sldMkLst>
          <pc:docMk/>
          <pc:sldMk cId="2788217980" sldId="260"/>
        </pc:sldMkLst>
        <pc:spChg chg="mod">
          <ac:chgData name="Emmanuel J Rodriguez" userId="2e21cfcd93492766" providerId="LiveId" clId="{22900701-4350-46B0-B667-6B406B94FF7B}" dt="2022-03-01T23:49:29.569" v="114" actId="20577"/>
          <ac:spMkLst>
            <pc:docMk/>
            <pc:sldMk cId="2788217980" sldId="260"/>
            <ac:spMk id="2" creationId="{DB2A7252-6823-44F9-B464-D7A15D12BB65}"/>
          </ac:spMkLst>
        </pc:spChg>
        <pc:spChg chg="mod">
          <ac:chgData name="Emmanuel J Rodriguez" userId="2e21cfcd93492766" providerId="LiveId" clId="{22900701-4350-46B0-B667-6B406B94FF7B}" dt="2022-03-01T23:49:42.228" v="115"/>
          <ac:spMkLst>
            <pc:docMk/>
            <pc:sldMk cId="2788217980" sldId="260"/>
            <ac:spMk id="3" creationId="{7FEAE391-6366-4E20-A14E-0ECFAEA8029A}"/>
          </ac:spMkLst>
        </pc:spChg>
      </pc:sldChg>
      <pc:sldChg chg="modSp add mod">
        <pc:chgData name="Emmanuel J Rodriguez" userId="2e21cfcd93492766" providerId="LiveId" clId="{22900701-4350-46B0-B667-6B406B94FF7B}" dt="2022-03-01T23:50:09.797" v="129"/>
        <pc:sldMkLst>
          <pc:docMk/>
          <pc:sldMk cId="69798042" sldId="261"/>
        </pc:sldMkLst>
        <pc:spChg chg="mod">
          <ac:chgData name="Emmanuel J Rodriguez" userId="2e21cfcd93492766" providerId="LiveId" clId="{22900701-4350-46B0-B667-6B406B94FF7B}" dt="2022-03-01T23:49:54.235" v="128" actId="20577"/>
          <ac:spMkLst>
            <pc:docMk/>
            <pc:sldMk cId="69798042" sldId="261"/>
            <ac:spMk id="2" creationId="{DB2A7252-6823-44F9-B464-D7A15D12BB65}"/>
          </ac:spMkLst>
        </pc:spChg>
        <pc:spChg chg="mod">
          <ac:chgData name="Emmanuel J Rodriguez" userId="2e21cfcd93492766" providerId="LiveId" clId="{22900701-4350-46B0-B667-6B406B94FF7B}" dt="2022-03-01T23:50:09.797" v="129"/>
          <ac:spMkLst>
            <pc:docMk/>
            <pc:sldMk cId="69798042" sldId="261"/>
            <ac:spMk id="3" creationId="{7FEAE391-6366-4E20-A14E-0ECFAEA8029A}"/>
          </ac:spMkLst>
        </pc:spChg>
      </pc:sldChg>
      <pc:sldChg chg="modSp add mod">
        <pc:chgData name="Emmanuel J Rodriguez" userId="2e21cfcd93492766" providerId="LiveId" clId="{22900701-4350-46B0-B667-6B406B94FF7B}" dt="2022-03-01T23:50:29.416" v="157" actId="20577"/>
        <pc:sldMkLst>
          <pc:docMk/>
          <pc:sldMk cId="2309908418" sldId="262"/>
        </pc:sldMkLst>
        <pc:spChg chg="mod">
          <ac:chgData name="Emmanuel J Rodriguez" userId="2e21cfcd93492766" providerId="LiveId" clId="{22900701-4350-46B0-B667-6B406B94FF7B}" dt="2022-03-01T23:50:18.324" v="136" actId="20577"/>
          <ac:spMkLst>
            <pc:docMk/>
            <pc:sldMk cId="2309908418" sldId="262"/>
            <ac:spMk id="2" creationId="{DB2A7252-6823-44F9-B464-D7A15D12BB65}"/>
          </ac:spMkLst>
        </pc:spChg>
        <pc:spChg chg="mod">
          <ac:chgData name="Emmanuel J Rodriguez" userId="2e21cfcd93492766" providerId="LiveId" clId="{22900701-4350-46B0-B667-6B406B94FF7B}" dt="2022-03-01T23:50:29.416" v="157" actId="20577"/>
          <ac:spMkLst>
            <pc:docMk/>
            <pc:sldMk cId="2309908418" sldId="262"/>
            <ac:spMk id="3" creationId="{7FEAE391-6366-4E20-A14E-0ECFAEA8029A}"/>
          </ac:spMkLst>
        </pc:spChg>
      </pc:sldChg>
      <pc:sldChg chg="modSp new mod">
        <pc:chgData name="Emmanuel J Rodriguez" userId="2e21cfcd93492766" providerId="LiveId" clId="{22900701-4350-46B0-B667-6B406B94FF7B}" dt="2022-03-01T23:50:57.963" v="172" actId="20577"/>
        <pc:sldMkLst>
          <pc:docMk/>
          <pc:sldMk cId="4024108741" sldId="263"/>
        </pc:sldMkLst>
        <pc:spChg chg="mod">
          <ac:chgData name="Emmanuel J Rodriguez" userId="2e21cfcd93492766" providerId="LiveId" clId="{22900701-4350-46B0-B667-6B406B94FF7B}" dt="2022-03-01T23:50:35.471" v="161" actId="20577"/>
          <ac:spMkLst>
            <pc:docMk/>
            <pc:sldMk cId="4024108741" sldId="263"/>
            <ac:spMk id="2" creationId="{7998C1A2-E365-4EAD-A777-10EF9BD2588C}"/>
          </ac:spMkLst>
        </pc:spChg>
        <pc:spChg chg="mod">
          <ac:chgData name="Emmanuel J Rodriguez" userId="2e21cfcd93492766" providerId="LiveId" clId="{22900701-4350-46B0-B667-6B406B94FF7B}" dt="2022-03-01T23:50:57.963" v="172" actId="20577"/>
          <ac:spMkLst>
            <pc:docMk/>
            <pc:sldMk cId="4024108741" sldId="263"/>
            <ac:spMk id="3" creationId="{83DC0D0A-FDCC-4561-A8EB-1F836A94AAC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84A48-ED60-4C3D-8040-EA420D1376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950468-0315-4B9D-B09C-8C8C8EBD6A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C4A60-6695-4CB3-AF2E-ACFA3C0B8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2AFC1-4F45-459D-BC95-0F8F5E3A4294}" type="datetimeFigureOut">
              <a:rPr lang="en-US" smtClean="0"/>
              <a:t>3/1/2022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2D2078-2F8D-45FB-9C14-17036DA5D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DD9676-FA59-4F47-9033-2CFC79763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5D697-CC64-4CAF-A466-D1105DD36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420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04559-4EA9-4030-8CD7-225515C39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446E6-DF6C-44D2-BA71-5D6445655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F5ECAD-0D49-425E-99BE-4E9A27976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2AFC1-4F45-459D-BC95-0F8F5E3A4294}" type="datetimeFigureOut">
              <a:rPr lang="en-US" smtClean="0"/>
              <a:t>3/1/2022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B6268D-3BF4-472B-B1D5-518489674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BF4C8E-AFA1-48CB-9BE5-583A37660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5D697-CC64-4CAF-A466-D1105DD36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2792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CC60D-06AE-4839-A5F6-DB50DF878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8C870F-1989-4744-AA64-C97EBC3080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3CF60B-312D-4E68-B904-78A68C9AF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2AFC1-4F45-459D-BC95-0F8F5E3A4294}" type="datetimeFigureOut">
              <a:rPr lang="en-US" smtClean="0"/>
              <a:t>3/1/2022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05CA4F-B8D7-4A59-A5BA-74DF90CC1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BAD61-51E4-4D1D-8E14-1EB20C0EC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5D697-CC64-4CAF-A466-D1105DD36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503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51454-95B8-455D-BFC1-6C6DA3603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3FBC0B-D342-4647-B5BA-5B6ADF294E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69BC10-2FBB-4372-AE80-21EC4AB47A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FE6231-D355-4CB0-AB68-1D21D4EB6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2AFC1-4F45-459D-BC95-0F8F5E3A4294}" type="datetimeFigureOut">
              <a:rPr lang="en-US" smtClean="0"/>
              <a:t>3/1/2022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01BF01-A233-43E9-8949-BAADCAF95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A8DA2-49A7-4CD4-AD2A-B4AE89F09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5D697-CC64-4CAF-A466-D1105DD36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572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A6AAD-2645-4527-94B3-3A3BECB92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031552-937E-4EAB-883E-C29FBC415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3455D9-4697-44D3-AB55-9CADBE716D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58DC7D-BF9A-4F54-AB58-1C49FFA17D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1D3AE0C-DB47-4E16-828A-3429714FAD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B3C3C45-525E-4801-90AF-776B7EFC5A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2AFC1-4F45-459D-BC95-0F8F5E3A4294}" type="datetimeFigureOut">
              <a:rPr lang="en-US" smtClean="0"/>
              <a:t>3/1/2022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B6704D-F5BC-4598-B7E7-5F53967A6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D9A6A6-BB3C-4DD0-A205-F8593CED1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5D697-CC64-4CAF-A466-D1105DD36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9405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B609AA-EE0C-4FE6-8E30-99E91A13B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DA744A-AA0E-40C1-82B4-1865879AD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2AFC1-4F45-459D-BC95-0F8F5E3A4294}" type="datetimeFigureOut">
              <a:rPr lang="en-US" smtClean="0"/>
              <a:t>3/1/2022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1794A4-DA55-49C9-9EE1-51AFA7980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3A595F-05DA-41C2-AFB0-CC51AFDB9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5D697-CC64-4CAF-A466-D1105DD36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772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5F4ACF-3F96-4D20-91DE-5A7A89B4A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2AFC1-4F45-459D-BC95-0F8F5E3A4294}" type="datetimeFigureOut">
              <a:rPr lang="en-US" smtClean="0"/>
              <a:t>3/1/2022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2B232B-2221-443B-9621-C2FFF4160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970A4F-5257-4439-983C-D802F7190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5D697-CC64-4CAF-A466-D1105DD36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6921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5D602-AEC1-494B-9EC8-423C9605B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C75CB-286B-4E0D-946F-B2152E792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6FE692-594E-4FE0-A040-69DCF74AAA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E66829-7538-463B-99D9-8920CBDF40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2AFC1-4F45-459D-BC95-0F8F5E3A4294}" type="datetimeFigureOut">
              <a:rPr lang="en-US" smtClean="0"/>
              <a:t>3/1/2022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B5AFDF-77FC-4354-AF3B-008607F927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77315B-5282-41D1-99A3-2ADE83DA1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5D697-CC64-4CAF-A466-D1105DD36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7240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77A91-0A20-466E-9CA8-86B63BE8A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8C2C4C-22CA-4398-A23B-4F068FB5A7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574D67-2A27-42C6-815E-BE5AD10D36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BB23AA-5E29-4400-B52D-822F13ED6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2AFC1-4F45-459D-BC95-0F8F5E3A4294}" type="datetimeFigureOut">
              <a:rPr lang="en-US" smtClean="0"/>
              <a:t>3/1/2022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368ADC-B329-411C-AA83-9EEADAE8A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78A6D9-A5FD-46E3-8F58-CDC4CC4B8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5D697-CC64-4CAF-A466-D1105DD36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8247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59857-0725-4AFD-ADA1-93DE6885A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742F07-D500-4235-A3BD-4E9FA3C926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AB7CF7-F61A-47E7-B601-419FF069E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2AFC1-4F45-459D-BC95-0F8F5E3A4294}" type="datetimeFigureOut">
              <a:rPr lang="en-US" smtClean="0"/>
              <a:t>3/1/2022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18C1B3-4CDE-4267-AF19-9C2FCF860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D38641-A10F-457F-B6A9-3F574B2B2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5D697-CC64-4CAF-A466-D1105DD36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47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A3A314E-DAF4-459C-AF7B-C7347C7639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7BE33E-4004-41A3-B3E6-14272F53B3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A99DB-D8D6-44B2-B140-B5C0DD698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2AFC1-4F45-459D-BC95-0F8F5E3A4294}" type="datetimeFigureOut">
              <a:rPr lang="en-US" smtClean="0"/>
              <a:t>3/1/2022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1BF21E-4345-40CE-88C3-7C77ECC01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1F20F6-FD42-49EE-AE17-171924F49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5D697-CC64-4CAF-A466-D1105DD36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32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B5F7E3-61B5-4449-80CF-04DA4D37A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CFC45A-DECF-4B86-87F6-C12B501A4F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C712EE-4BB3-49D3-9FAF-733EA6255E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52AFC1-4F45-459D-BC95-0F8F5E3A4294}" type="datetimeFigureOut">
              <a:rPr lang="en-US" smtClean="0"/>
              <a:t>3/1/2022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DFC8A3-CA43-47DE-88A0-18EE8FB2D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8CC4C2-DBD2-41A0-8542-0ED48583DA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C5D697-CC64-4CAF-A466-D1105DD36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2812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FD3DB-B193-4E72-861B-FE835A2E1F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Titanic Passenger Survival: Data Acquisition and Preparation</a:t>
            </a:r>
            <a:br>
              <a:rPr lang="en-US" sz="3600" dirty="0"/>
            </a:br>
            <a:r>
              <a:rPr lang="en-US" sz="3200" dirty="0"/>
              <a:t>Micro-Project 1</a:t>
            </a:r>
            <a:br>
              <a:rPr lang="en-US" sz="2000" dirty="0"/>
            </a:br>
            <a:r>
              <a:rPr lang="en-US" sz="2000" dirty="0"/>
              <a:t>https://github.com/OrangeJoe0421/ANA-500-MP1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B5E315-C208-479B-A6B8-0DCBEF2B5F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Travis James</a:t>
            </a:r>
          </a:p>
          <a:p>
            <a:r>
              <a:rPr lang="en-US" dirty="0"/>
              <a:t>September 20, 2026</a:t>
            </a:r>
          </a:p>
        </p:txBody>
      </p:sp>
    </p:spTree>
    <p:extLst>
      <p:ext uri="{BB962C8B-B14F-4D97-AF65-F5344CB8AC3E}">
        <p14:creationId xmlns:p14="http://schemas.microsoft.com/office/powerpoint/2010/main" val="36512514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302AB-CEDA-4E89-A1DC-6BABC9C3F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D07EA-4B74-4BFA-A23D-5147B6A28F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Survival on the Titanic was not random. This project aims to describe which passenger characteristics were associated with who lived and who died.</a:t>
            </a:r>
          </a:p>
          <a:p>
            <a:pPr>
              <a:spcAft>
                <a:spcPts val="1000"/>
              </a:spcAft>
            </a:pPr>
            <a:r>
              <a:rPr lang="en-US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Characteristics considered: </a:t>
            </a: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sex, ticket class, age, and family situation.</a:t>
            </a:r>
          </a:p>
          <a:p>
            <a:pPr>
              <a:spcAft>
                <a:spcPts val="1000"/>
              </a:spcAft>
            </a:pPr>
            <a:r>
              <a:rPr lang="en-US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Data: </a:t>
            </a: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the passenger manifest records in the course-provided titanic.csv file.</a:t>
            </a:r>
          </a:p>
          <a:p>
            <a:pPr>
              <a:spcAft>
                <a:spcPts val="1000"/>
              </a:spcAft>
            </a:pPr>
            <a:r>
              <a:rPr lang="en-US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Scope of Micro-Project 1: </a:t>
            </a: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use NumPy and Pandas to organize and clean the data so it is ready for analysis (Steps 1 and 2 of the data science process).</a:t>
            </a:r>
          </a:p>
        </p:txBody>
      </p:sp>
    </p:spTree>
    <p:extLst>
      <p:ext uri="{BB962C8B-B14F-4D97-AF65-F5344CB8AC3E}">
        <p14:creationId xmlns:p14="http://schemas.microsoft.com/office/powerpoint/2010/main" val="1880678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9C91F-7913-4D5C-A911-ADD4837DA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Hypothesis Formulation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5A42CE-FCD3-41B9-A629-5F3C6031F3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lang="en-US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Hypothesis: </a:t>
            </a: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Women and passengers in higher ticket classes survived at higher rates than men and passengers in lower ticket classes.</a:t>
            </a:r>
          </a:p>
          <a:p>
            <a:pPr>
              <a:spcAft>
                <a:spcPts val="1000"/>
              </a:spcAft>
            </a:pPr>
            <a:r>
              <a:rPr lang="en-US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Key variables: </a:t>
            </a: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Sex, Pclass, and Survived, with Age and family size as supporting variables.</a:t>
            </a:r>
          </a:p>
          <a:p>
            <a:pPr>
              <a:spcAft>
                <a:spcPts val="1000"/>
              </a:spcAft>
            </a:pPr>
            <a:r>
              <a:rPr lang="en-US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What this project does: </a:t>
            </a: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prepares clean, trustworthy data for those variables. Testing the hypothesis belongs to Step 3 (Analyze) and comes later.</a:t>
            </a:r>
          </a:p>
          <a:p>
            <a:pPr>
              <a:spcAft>
                <a:spcPts val="1000"/>
              </a:spcAft>
            </a:pPr>
            <a:r>
              <a:rPr lang="en-US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Readiness check: </a:t>
            </a: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among the 891 passengers with a known outcome, every sex and class group is large enough to compare (the smallest is 76 second-class women).</a:t>
            </a:r>
          </a:p>
        </p:txBody>
      </p:sp>
    </p:spTree>
    <p:extLst>
      <p:ext uri="{BB962C8B-B14F-4D97-AF65-F5344CB8AC3E}">
        <p14:creationId xmlns:p14="http://schemas.microsoft.com/office/powerpoint/2010/main" val="33069587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A7252-6823-44F9-B464-D7A15D12B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Acquire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AE391-6366-4E20-A14E-0ECFAEA802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lang="en-US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Source: </a:t>
            </a: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titanic.csv, one of the curated datasets provided for the course.</a:t>
            </a:r>
          </a:p>
          <a:p>
            <a:pPr>
              <a:spcAft>
                <a:spcPts val="1000"/>
              </a:spcAft>
            </a:pPr>
            <a:r>
              <a:rPr lang="en-US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Retrieved: </a:t>
            </a: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loaded into a Pandas DataFrame with read_csv, giving 1,309 passengers and 12 columns.</a:t>
            </a:r>
          </a:p>
          <a:p>
            <a:pPr>
              <a:spcAft>
                <a:spcPts val="1000"/>
              </a:spcAft>
            </a:pPr>
            <a:r>
              <a:rPr lang="en-US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Columns: </a:t>
            </a: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PassengerId, Survived, Pclass, Name, Sex, Age, SibSp, Parch, Ticket, Fare, Cabin, Embarked.</a:t>
            </a:r>
          </a:p>
          <a:p>
            <a:pPr>
              <a:spcAft>
                <a:spcPts val="1000"/>
              </a:spcAft>
            </a:pPr>
            <a:r>
              <a:rPr lang="en-US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Queried: </a:t>
            </a: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info(), describe(), and value_counts() were used to inspect data types, ranges, and category counts.</a:t>
            </a:r>
          </a:p>
          <a:p>
            <a:pPr>
              <a:spcAft>
                <a:spcPts val="1000"/>
              </a:spcAft>
            </a:pPr>
            <a:r>
              <a:rPr lang="en-US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Key finding: </a:t>
            </a: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Survived is blank for 418 rows (PassengerId 892 to 1309), so only 891 passengers have a known outcome. Survived was also stored as a float (0.0 and 1.0) because of those blanks.</a:t>
            </a:r>
          </a:p>
        </p:txBody>
      </p:sp>
    </p:spTree>
    <p:extLst>
      <p:ext uri="{BB962C8B-B14F-4D97-AF65-F5344CB8AC3E}">
        <p14:creationId xmlns:p14="http://schemas.microsoft.com/office/powerpoint/2010/main" val="427023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A7252-6823-44F9-B464-D7A15D12B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Prepare: Explore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AE391-6366-4E20-A14E-0ECFAEA802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lang="en-US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Missing values: </a:t>
            </a: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Cabin 1,014 (77.5%), Survived 418 (31.9%), Age 263 (20.1%), Embarked 2, Fare 1.</a:t>
            </a:r>
          </a:p>
          <a:p>
            <a:pPr>
              <a:spcAft>
                <a:spcPts val="1000"/>
              </a:spcAft>
            </a:pPr>
            <a:r>
              <a:rPr lang="en-US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Age gaps are uneven: </a:t>
            </a: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about 29% of third-class ages are missing versus 3% to 16% in first and second class.</a:t>
            </a:r>
          </a:p>
          <a:p>
            <a:pPr>
              <a:spcAft>
                <a:spcPts val="1000"/>
              </a:spcAft>
            </a:pPr>
            <a:r>
              <a:rPr lang="en-US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Duplicates: </a:t>
            </a: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no fully duplicated rows and PassengerId is unique. Two repeated names belong to different passengers (different tickets and ages).</a:t>
            </a:r>
          </a:p>
          <a:p>
            <a:pPr>
              <a:spcAft>
                <a:spcPts val="1000"/>
              </a:spcAft>
            </a:pPr>
            <a:r>
              <a:rPr lang="en-US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Validity: </a:t>
            </a: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Pclass, Sex, and Embarked contain only expected values, and no counts are negative.</a:t>
            </a:r>
          </a:p>
          <a:p>
            <a:pPr>
              <a:spcAft>
                <a:spcPts val="1000"/>
              </a:spcAft>
            </a:pPr>
            <a:r>
              <a:rPr lang="en-US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Suspicious values: </a:t>
            </a: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17 fares equal 0 and 12 ages are under 1 (real infants). Fare is strongly right-skewed (skewness 4.37), with 171 values above the IQR upper fence.</a:t>
            </a:r>
          </a:p>
        </p:txBody>
      </p:sp>
    </p:spTree>
    <p:extLst>
      <p:ext uri="{BB962C8B-B14F-4D97-AF65-F5344CB8AC3E}">
        <p14:creationId xmlns:p14="http://schemas.microsoft.com/office/powerpoint/2010/main" val="27882179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A7252-6823-44F9-B464-D7A15D12B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Prepare: Validate and Result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AE391-6366-4E20-A14E-0ECFAEA802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lang="en-US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Validation: </a:t>
            </a: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assertions confirm only Survived has blanks, PassengerId is unique, no rows were lost, and ages, fares, and family sizes are in valid ranges.</a:t>
            </a:r>
          </a:p>
          <a:p>
            <a:pPr>
              <a:spcAft>
                <a:spcPts val="1000"/>
              </a:spcAft>
            </a:pPr>
            <a:r>
              <a:rPr lang="en-US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Age check: </a:t>
            </a: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after filling, the mean moved from 29.88 to 29.27 and the median from 28 to 26, so the distribution stayed close to the original.</a:t>
            </a:r>
          </a:p>
          <a:p>
            <a:pPr>
              <a:spcAft>
                <a:spcPts val="1000"/>
              </a:spcAft>
            </a:pPr>
            <a:r>
              <a:rPr lang="en-US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Result: </a:t>
            </a: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1,309 passengers and 20 columns with consistent data types, saved as titanic_clean.csv.</a:t>
            </a:r>
          </a:p>
          <a:p>
            <a:pPr>
              <a:spcAft>
                <a:spcPts val="1000"/>
              </a:spcAft>
            </a:pPr>
            <a:r>
              <a:rPr lang="en-US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Ready for Step 3: </a:t>
            </a: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891 labeled passengers can test the hypothesis, and the 418 holdout rows are set aside.</a:t>
            </a:r>
          </a:p>
          <a:p>
            <a:pPr>
              <a:spcAft>
                <a:spcPts val="1000"/>
              </a:spcAft>
            </a:pPr>
            <a:r>
              <a:rPr lang="en-US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Notebook and data: </a:t>
            </a: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https://github.com/OrangeJoe0421/ANA-500-MP1</a:t>
            </a:r>
          </a:p>
        </p:txBody>
      </p:sp>
    </p:spTree>
    <p:extLst>
      <p:ext uri="{BB962C8B-B14F-4D97-AF65-F5344CB8AC3E}">
        <p14:creationId xmlns:p14="http://schemas.microsoft.com/office/powerpoint/2010/main" val="2788217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A7252-6823-44F9-B464-D7A15D12B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Prepare: Clean and Transform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AE391-6366-4E20-A14E-0ECFAEA802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lang="en-US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Age (263 missing): </a:t>
            </a: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filled with the median age of the same ticket class and title, with an AgeWasMissing flag to keep it traceable.</a:t>
            </a:r>
          </a:p>
          <a:p>
            <a:pPr>
              <a:spcAft>
                <a:spcPts val="1000"/>
              </a:spcAft>
            </a:pPr>
            <a:r>
              <a:rPr lang="en-US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Cabin (77.5% missing): </a:t>
            </a: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replaced with HasCabin and Deck, and the raw column was dropped.</a:t>
            </a:r>
          </a:p>
          <a:p>
            <a:pPr>
              <a:spcAft>
                <a:spcPts val="1000"/>
              </a:spcAft>
            </a:pPr>
            <a:r>
              <a:rPr lang="en-US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Embarked, Fare, and zero fares: </a:t>
            </a: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2 missing ports filled with the most common port (S), 1 missing fare filled with the median fare of its class, and 17 zero fares kept and flagged.</a:t>
            </a:r>
          </a:p>
          <a:p>
            <a:pPr>
              <a:spcAft>
                <a:spcPts val="1000"/>
              </a:spcAft>
            </a:pPr>
            <a:r>
              <a:rPr lang="en-US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Survived: </a:t>
            </a: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converted to nullable Int64 so the 418 unknown outcomes stay blank instead of becoming fake values.</a:t>
            </a:r>
          </a:p>
          <a:p>
            <a:pPr>
              <a:spcAft>
                <a:spcPts val="1000"/>
              </a:spcAft>
            </a:pPr>
            <a:r>
              <a:rPr lang="en-US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New features: </a:t>
            </a: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Title, AgeGroup, FamilySize, IsAlone, and FareLog. The np.log1p transform cut Fare skewness from 4.37 to 0.54.</a:t>
            </a:r>
          </a:p>
        </p:txBody>
      </p:sp>
    </p:spTree>
    <p:extLst>
      <p:ext uri="{BB962C8B-B14F-4D97-AF65-F5344CB8AC3E}">
        <p14:creationId xmlns:p14="http://schemas.microsoft.com/office/powerpoint/2010/main" val="27882179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96</Words>
  <Application>Microsoft Office PowerPoint</Application>
  <PresentationFormat>Widescreen</PresentationFormat>
  <Paragraphs>17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Times New Roman</vt:lpstr>
      <vt:lpstr>Office Theme</vt:lpstr>
      <vt:lpstr>&lt;Project Title&gt; &lt;Micro-Project #&gt; &lt;Repository link&gt;</vt:lpstr>
      <vt:lpstr>Problem Statement</vt:lpstr>
      <vt:lpstr>Hypothesis Formulation</vt:lpstr>
      <vt:lpstr>Acquire</vt:lpstr>
      <vt:lpstr>Prepare</vt:lpstr>
      <vt:lpstr>Analyze data</vt:lpstr>
      <vt:lpstr>Report</vt:lpstr>
      <vt:lpstr>Act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&lt;Project Title&gt; &lt;Micro-Project #&gt;</dc:title>
  <dc:creator>Emmanuel J Rodriguez</dc:creator>
  <cp:lastModifiedBy>Emmanuel J Rodriguez</cp:lastModifiedBy>
  <cp:revision>1</cp:revision>
  <dcterms:created xsi:type="dcterms:W3CDTF">2022-03-01T22:05:03Z</dcterms:created>
  <dcterms:modified xsi:type="dcterms:W3CDTF">2022-03-01T23:51:02Z</dcterms:modified>
</cp:coreProperties>
</file>